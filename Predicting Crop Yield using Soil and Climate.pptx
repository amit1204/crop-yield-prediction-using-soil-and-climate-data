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59" r:id="rId5"/>
    <p:sldId id="260" r:id="rId6"/>
    <p:sldId id="263" r:id="rId7"/>
    <p:sldId id="264" r:id="rId8"/>
    <p:sldId id="265" r:id="rId9"/>
    <p:sldId id="266" r:id="rId10"/>
    <p:sldId id="267" r:id="rId11"/>
    <p:sldId id="271" r:id="rId12"/>
    <p:sldId id="268" r:id="rId13"/>
    <p:sldId id="269" r:id="rId14"/>
    <p:sldId id="270" r:id="rId15"/>
    <p:sldId id="273" r:id="rId16"/>
    <p:sldId id="274" r:id="rId17"/>
    <p:sldId id="275" r:id="rId18"/>
    <p:sldId id="262" r:id="rId19"/>
    <p:sldId id="26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DAE630-18EE-48E6-884A-665BC8B01F30}" v="949" dt="2025-12-12T18:30:57.932"/>
    <p1510:client id="{FD3F6375-649F-464C-9C32-02D3C440ACA5}" v="33" dt="2025-12-12T18:44:46.3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CCA59-7519-44E8-9B6F-5C533D2E18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6E0217-08F3-4EF0-AD6E-F27FADE621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51800B-367C-429F-9D89-E8B1F5D4D0B8}"/>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5" name="Footer Placeholder 4">
            <a:extLst>
              <a:ext uri="{FF2B5EF4-FFF2-40B4-BE49-F238E27FC236}">
                <a16:creationId xmlns:a16="http://schemas.microsoft.com/office/drawing/2014/main" id="{09403920-0567-4D67-9218-53E6A0A659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BE8FC-C9BF-4C4D-A5A0-1D576CC95D14}"/>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1831861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4445D-59D5-4233-8431-655E0C3634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F76C82-CB9B-4E8F-A668-1EF4EBEBFD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33879-F3DC-4DBF-94A3-F9A5F72B31BB}"/>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5" name="Footer Placeholder 4">
            <a:extLst>
              <a:ext uri="{FF2B5EF4-FFF2-40B4-BE49-F238E27FC236}">
                <a16:creationId xmlns:a16="http://schemas.microsoft.com/office/drawing/2014/main" id="{E4861075-1B5E-427A-98B4-3E431EFB5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2C5DF0-CFCD-4C3D-AC34-0C083B6897D2}"/>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880500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1CADB-378B-4A55-9C0F-97E861B7CD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EE90F5-1F43-46B3-9EF9-B926A2B79B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7FC01B-1CCA-4FA7-8D14-409AB73C28CC}"/>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5" name="Footer Placeholder 4">
            <a:extLst>
              <a:ext uri="{FF2B5EF4-FFF2-40B4-BE49-F238E27FC236}">
                <a16:creationId xmlns:a16="http://schemas.microsoft.com/office/drawing/2014/main" id="{C77752F7-C909-46D3-A2DE-97F74E3346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F373AB-4390-440B-A127-8C8950109B86}"/>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2356510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6966F-D019-4A6E-B0DD-9B1EFC623E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3B9CD0-DED2-4973-B553-C864B2393B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4C22BB-BF86-45DC-860F-A6E79AF316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D4114E-3D8B-4E35-A027-0C05F92CB163}"/>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6" name="Footer Placeholder 5">
            <a:extLst>
              <a:ext uri="{FF2B5EF4-FFF2-40B4-BE49-F238E27FC236}">
                <a16:creationId xmlns:a16="http://schemas.microsoft.com/office/drawing/2014/main" id="{93A9583A-E577-4195-9258-032DFF8E45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1762D-FBE5-4294-BB1A-060B4EC20D58}"/>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2880800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9C64-4D17-4434-AFA9-4F2462575D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958365-4981-4A1F-9CBC-B523712B08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00341E-210C-4BCF-92FC-7941FF430C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AF130C-8C7A-47E5-8CAA-9AA002C5A9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2649F4-A883-42E7-9F60-EBCC288948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85A0A3-F63D-4B28-BABD-84CA238A2DA7}"/>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8" name="Footer Placeholder 7">
            <a:extLst>
              <a:ext uri="{FF2B5EF4-FFF2-40B4-BE49-F238E27FC236}">
                <a16:creationId xmlns:a16="http://schemas.microsoft.com/office/drawing/2014/main" id="{25361EDC-A47D-4FCB-9BD4-0CC96C1FAF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80F30-41C4-46B9-A3BD-DC82FA3654D2}"/>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454627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7BBE3-09DB-4CC2-B4E1-D09CB2B532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8DB8AD-9991-4E93-B898-8327C0C3FDFC}"/>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4" name="Footer Placeholder 3">
            <a:extLst>
              <a:ext uri="{FF2B5EF4-FFF2-40B4-BE49-F238E27FC236}">
                <a16:creationId xmlns:a16="http://schemas.microsoft.com/office/drawing/2014/main" id="{6AA6480C-2764-4F82-8B85-93E42FAA04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20A65C-AD81-4F3F-A36D-9588F86F858C}"/>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2058560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E1D597-6608-4F54-9008-C8FDB40ED62D}"/>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3" name="Footer Placeholder 2">
            <a:extLst>
              <a:ext uri="{FF2B5EF4-FFF2-40B4-BE49-F238E27FC236}">
                <a16:creationId xmlns:a16="http://schemas.microsoft.com/office/drawing/2014/main" id="{1DDAFF21-B4B8-4B95-A611-D999F25A5C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C89CCF-B4EB-4B16-9CD8-555E0A6DD2DC}"/>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1565067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2A02-DA2D-45D5-A20E-7D5648D68A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9B0D1A-E98A-40AF-9E61-58296AA874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9F8091-5171-47F7-A9BA-4626CE8D3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F00F26-5421-44C0-8834-51C27FB5FCE7}"/>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6" name="Footer Placeholder 5">
            <a:extLst>
              <a:ext uri="{FF2B5EF4-FFF2-40B4-BE49-F238E27FC236}">
                <a16:creationId xmlns:a16="http://schemas.microsoft.com/office/drawing/2014/main" id="{3A40B1A7-8B15-4FD0-A58C-CB03760C27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EEDFDF-37F4-4A35-8539-19CF29AB1A87}"/>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1490632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376E-0718-4502-A209-D665AA5DE2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936735-CDCA-4B22-9461-82E215D04E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6BB602-D0F4-434B-B7D7-39BA227DD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58930-E230-4D7F-936B-7A76DDA81946}"/>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6" name="Footer Placeholder 5">
            <a:extLst>
              <a:ext uri="{FF2B5EF4-FFF2-40B4-BE49-F238E27FC236}">
                <a16:creationId xmlns:a16="http://schemas.microsoft.com/office/drawing/2014/main" id="{0A6B3D7E-9B90-4557-8BB6-672A9FFF41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86B792-933A-400D-A346-1961C6F9E9C9}"/>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3836908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AF9EF-B37E-4F0E-B5C9-881EAD71DB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F71D94-01B5-4BF7-97A0-D8EB731C00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54D43-63F5-4861-92AA-07D86FD5FA7F}"/>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5" name="Footer Placeholder 4">
            <a:extLst>
              <a:ext uri="{FF2B5EF4-FFF2-40B4-BE49-F238E27FC236}">
                <a16:creationId xmlns:a16="http://schemas.microsoft.com/office/drawing/2014/main" id="{E968268D-D683-4617-A124-21F2697A09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994484-3D6C-499E-AFC4-2AC137755396}"/>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1378508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ED69A3-4B13-4865-B9B3-D4CBE1760B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278165-D948-46BE-B48B-B8A0E4E276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5D8325-4CD3-4D29-B669-A50472F57EB0}"/>
              </a:ext>
            </a:extLst>
          </p:cNvPr>
          <p:cNvSpPr>
            <a:spLocks noGrp="1"/>
          </p:cNvSpPr>
          <p:nvPr>
            <p:ph type="dt" sz="half" idx="10"/>
          </p:nvPr>
        </p:nvSpPr>
        <p:spPr/>
        <p:txBody>
          <a:bodyPr/>
          <a:lstStyle/>
          <a:p>
            <a:fld id="{1722F941-C1F0-4634-A26F-CDDC447ADE8A}" type="datetimeFigureOut">
              <a:rPr lang="en-US" smtClean="0"/>
              <a:t>12/12/2025</a:t>
            </a:fld>
            <a:endParaRPr lang="en-US"/>
          </a:p>
        </p:txBody>
      </p:sp>
      <p:sp>
        <p:nvSpPr>
          <p:cNvPr id="5" name="Footer Placeholder 4">
            <a:extLst>
              <a:ext uri="{FF2B5EF4-FFF2-40B4-BE49-F238E27FC236}">
                <a16:creationId xmlns:a16="http://schemas.microsoft.com/office/drawing/2014/main" id="{8B66698B-F69F-44F5-B4F0-BC02FF78BD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7762E-DAC2-4F6B-8C7D-F7608AD0242A}"/>
              </a:ext>
            </a:extLst>
          </p:cNvPr>
          <p:cNvSpPr>
            <a:spLocks noGrp="1"/>
          </p:cNvSpPr>
          <p:nvPr>
            <p:ph type="sldNum" sz="quarter" idx="12"/>
          </p:nvPr>
        </p:nvSpPr>
        <p:spPr/>
        <p:txBody>
          <a:bodyPr/>
          <a:lstStyle/>
          <a:p>
            <a:fld id="{8BF21FC9-1BDE-4C5C-836C-0F56988739DC}" type="slidenum">
              <a:rPr lang="en-US" smtClean="0"/>
              <a:t>‹#›</a:t>
            </a:fld>
            <a:endParaRPr lang="en-US"/>
          </a:p>
        </p:txBody>
      </p:sp>
    </p:spTree>
    <p:extLst>
      <p:ext uri="{BB962C8B-B14F-4D97-AF65-F5344CB8AC3E}">
        <p14:creationId xmlns:p14="http://schemas.microsoft.com/office/powerpoint/2010/main" val="1101938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BCB042-425C-4D55-8B54-32A1C4F5F4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C84A75-1E7E-4E80-837C-5C7356B241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62C427-4EEC-4FD4-93D6-7505483815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22F941-C1F0-4634-A26F-CDDC447ADE8A}" type="datetimeFigureOut">
              <a:rPr lang="en-US" smtClean="0"/>
              <a:t>12/12/2025</a:t>
            </a:fld>
            <a:endParaRPr lang="en-US"/>
          </a:p>
        </p:txBody>
      </p:sp>
      <p:sp>
        <p:nvSpPr>
          <p:cNvPr id="5" name="Footer Placeholder 4">
            <a:extLst>
              <a:ext uri="{FF2B5EF4-FFF2-40B4-BE49-F238E27FC236}">
                <a16:creationId xmlns:a16="http://schemas.microsoft.com/office/drawing/2014/main" id="{3E4A0A0E-4C51-42E3-9D40-742BDCDD22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58F9BA-E8DD-4C68-90E3-7EB3B2F0A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F21FC9-1BDE-4C5C-836C-0F56988739DC}" type="slidenum">
              <a:rPr lang="en-US" smtClean="0"/>
              <a:t>‹#›</a:t>
            </a:fld>
            <a:endParaRPr lang="en-US"/>
          </a:p>
        </p:txBody>
      </p:sp>
    </p:spTree>
    <p:extLst>
      <p:ext uri="{BB962C8B-B14F-4D97-AF65-F5344CB8AC3E}">
        <p14:creationId xmlns:p14="http://schemas.microsoft.com/office/powerpoint/2010/main" val="339905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60AD-98F3-4B1B-93B7-48BBCD3D0ED5}"/>
              </a:ext>
            </a:extLst>
          </p:cNvPr>
          <p:cNvSpPr>
            <a:spLocks noGrp="1"/>
          </p:cNvSpPr>
          <p:nvPr>
            <p:ph type="ctrTitle"/>
          </p:nvPr>
        </p:nvSpPr>
        <p:spPr/>
        <p:txBody>
          <a:bodyPr/>
          <a:lstStyle/>
          <a:p>
            <a:r>
              <a:rPr lang="en-US" dirty="0"/>
              <a:t>Predicting Crop Yield using Soil and Climate</a:t>
            </a:r>
          </a:p>
        </p:txBody>
      </p:sp>
      <p:sp>
        <p:nvSpPr>
          <p:cNvPr id="3" name="Subtitle 2">
            <a:extLst>
              <a:ext uri="{FF2B5EF4-FFF2-40B4-BE49-F238E27FC236}">
                <a16:creationId xmlns:a16="http://schemas.microsoft.com/office/drawing/2014/main" id="{3BC49EF0-AE63-40ED-8B50-9211B496436D}"/>
              </a:ext>
            </a:extLst>
          </p:cNvPr>
          <p:cNvSpPr>
            <a:spLocks noGrp="1"/>
          </p:cNvSpPr>
          <p:nvPr>
            <p:ph type="subTitle" idx="1"/>
          </p:nvPr>
        </p:nvSpPr>
        <p:spPr>
          <a:xfrm>
            <a:off x="1524000" y="5953125"/>
            <a:ext cx="9144000" cy="717297"/>
          </a:xfrm>
        </p:spPr>
        <p:txBody>
          <a:bodyPr vert="horz" lIns="91440" tIns="45720" rIns="91440" bIns="45720" rtlCol="0" anchor="t">
            <a:normAutofit fontScale="92500" lnSpcReduction="20000"/>
          </a:bodyPr>
          <a:lstStyle/>
          <a:p>
            <a:pPr algn="r"/>
            <a:r>
              <a:rPr lang="en-US" dirty="0"/>
              <a:t>Amit Tiwari</a:t>
            </a:r>
          </a:p>
          <a:p>
            <a:pPr algn="r"/>
            <a:r>
              <a:rPr lang="en-US" dirty="0">
                <a:ea typeface="Calibri"/>
                <a:cs typeface="Calibri"/>
              </a:rPr>
              <a:t>U02796114</a:t>
            </a:r>
          </a:p>
        </p:txBody>
      </p:sp>
    </p:spTree>
    <p:extLst>
      <p:ext uri="{BB962C8B-B14F-4D97-AF65-F5344CB8AC3E}">
        <p14:creationId xmlns:p14="http://schemas.microsoft.com/office/powerpoint/2010/main" val="341759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87755-0FB7-B4D8-5CF9-6AA073D92258}"/>
              </a:ext>
            </a:extLst>
          </p:cNvPr>
          <p:cNvSpPr>
            <a:spLocks noGrp="1"/>
          </p:cNvSpPr>
          <p:nvPr>
            <p:ph type="title"/>
          </p:nvPr>
        </p:nvSpPr>
        <p:spPr/>
        <p:txBody>
          <a:bodyPr/>
          <a:lstStyle/>
          <a:p>
            <a:r>
              <a:rPr lang="en-GB" dirty="0">
                <a:ea typeface="Calibri Light"/>
                <a:cs typeface="Calibri Light"/>
              </a:rPr>
              <a:t>Project Objective</a:t>
            </a:r>
            <a:endParaRPr lang="en-GB" dirty="0"/>
          </a:p>
        </p:txBody>
      </p:sp>
      <p:sp>
        <p:nvSpPr>
          <p:cNvPr id="3" name="Content Placeholder 2">
            <a:extLst>
              <a:ext uri="{FF2B5EF4-FFF2-40B4-BE49-F238E27FC236}">
                <a16:creationId xmlns:a16="http://schemas.microsoft.com/office/drawing/2014/main" id="{B13827F7-3F82-5B97-59F0-BCA4C90C627D}"/>
              </a:ext>
            </a:extLst>
          </p:cNvPr>
          <p:cNvSpPr>
            <a:spLocks noGrp="1"/>
          </p:cNvSpPr>
          <p:nvPr>
            <p:ph idx="1"/>
          </p:nvPr>
        </p:nvSpPr>
        <p:spPr/>
        <p:txBody>
          <a:bodyPr vert="horz" lIns="91440" tIns="45720" rIns="91440" bIns="45720" rtlCol="0" anchor="t">
            <a:normAutofit/>
          </a:bodyPr>
          <a:lstStyle/>
          <a:p>
            <a:r>
              <a:rPr lang="en-GB" dirty="0">
                <a:ea typeface="+mn-lt"/>
                <a:cs typeface="+mn-lt"/>
              </a:rPr>
              <a:t>What are the primary environmental and temporal factors driving yield variability across the dataset, and how dominant are soil properties compared to climatic factors (weather).</a:t>
            </a:r>
          </a:p>
          <a:p>
            <a:r>
              <a:rPr lang="en-GB" dirty="0">
                <a:ea typeface="+mn-lt"/>
                <a:cs typeface="+mn-lt"/>
              </a:rPr>
              <a:t>What are the directional impacts of specific soil health indicators—such as Soil pH (phh2o) and Clay Content—on predicted yield?</a:t>
            </a:r>
          </a:p>
          <a:p>
            <a:r>
              <a:rPr lang="en-GB" dirty="0">
                <a:ea typeface="+mn-lt"/>
                <a:cs typeface="+mn-lt"/>
              </a:rPr>
              <a:t>How does the impact of weather factors (e.g., Temperature, Humidity, Solar Radiation) differ in predictability between high-accuracy crops (Foodgrains) and lower-accuracy crops (Oilseed)?</a:t>
            </a:r>
            <a:endParaRPr lang="en-GB" dirty="0">
              <a:ea typeface="Calibri"/>
              <a:cs typeface="Calibri"/>
            </a:endParaRPr>
          </a:p>
        </p:txBody>
      </p:sp>
    </p:spTree>
    <p:extLst>
      <p:ext uri="{BB962C8B-B14F-4D97-AF65-F5344CB8AC3E}">
        <p14:creationId xmlns:p14="http://schemas.microsoft.com/office/powerpoint/2010/main" val="323378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FEE8-5F98-4349-86A8-555C9AF56866}"/>
              </a:ext>
            </a:extLst>
          </p:cNvPr>
          <p:cNvSpPr>
            <a:spLocks noGrp="1"/>
          </p:cNvSpPr>
          <p:nvPr>
            <p:ph type="title"/>
          </p:nvPr>
        </p:nvSpPr>
        <p:spPr/>
        <p:txBody>
          <a:bodyPr/>
          <a:lstStyle/>
          <a:p>
            <a:r>
              <a:rPr lang="en-US" dirty="0"/>
              <a:t>Data Sources</a:t>
            </a:r>
          </a:p>
        </p:txBody>
      </p:sp>
      <p:sp>
        <p:nvSpPr>
          <p:cNvPr id="3" name="Content Placeholder 2">
            <a:extLst>
              <a:ext uri="{FF2B5EF4-FFF2-40B4-BE49-F238E27FC236}">
                <a16:creationId xmlns:a16="http://schemas.microsoft.com/office/drawing/2014/main" id="{F7D795EA-AF62-4BC2-AAF9-B84911335930}"/>
              </a:ext>
            </a:extLst>
          </p:cNvPr>
          <p:cNvSpPr>
            <a:spLocks noGrp="1"/>
          </p:cNvSpPr>
          <p:nvPr>
            <p:ph idx="1"/>
          </p:nvPr>
        </p:nvSpPr>
        <p:spPr/>
        <p:txBody>
          <a:bodyPr vert="horz" lIns="91440" tIns="45720" rIns="91440" bIns="45720" rtlCol="0" anchor="t">
            <a:normAutofit/>
          </a:bodyPr>
          <a:lstStyle/>
          <a:p>
            <a:r>
              <a:rPr lang="en-US" b="1" dirty="0"/>
              <a:t>Yield Data – icrisat.org</a:t>
            </a:r>
          </a:p>
          <a:p>
            <a:pPr lvl="1">
              <a:buFont typeface="Courier New" panose="020B0604020202020204" pitchFamily="34" charset="0"/>
              <a:buChar char="o"/>
            </a:pPr>
            <a:r>
              <a:rPr lang="en-US" dirty="0">
                <a:ea typeface="Calibri"/>
                <a:cs typeface="Calibri"/>
              </a:rPr>
              <a:t>Downloaded the data for foodgrains, oilseed and cereals for respective districts for each state for year 2001 - 2023</a:t>
            </a:r>
          </a:p>
          <a:p>
            <a:r>
              <a:rPr lang="en-US" b="1" dirty="0"/>
              <a:t>Geospatial Coordinates</a:t>
            </a:r>
            <a:r>
              <a:rPr lang="en-US" dirty="0"/>
              <a:t> – </a:t>
            </a:r>
            <a:r>
              <a:rPr lang="en-US" b="1" dirty="0" err="1"/>
              <a:t>geopy</a:t>
            </a:r>
            <a:r>
              <a:rPr lang="en-US" b="1" dirty="0"/>
              <a:t> library (based on OpenStreetMap)</a:t>
            </a:r>
            <a:endParaRPr lang="en-US" b="1" dirty="0">
              <a:ea typeface="Calibri"/>
              <a:cs typeface="Calibri"/>
            </a:endParaRPr>
          </a:p>
          <a:p>
            <a:pPr lvl="1">
              <a:buFont typeface="Courier New" panose="020B0604020202020204" pitchFamily="34" charset="0"/>
              <a:buChar char="o"/>
            </a:pPr>
            <a:r>
              <a:rPr lang="en-US" dirty="0">
                <a:ea typeface="Calibri"/>
                <a:cs typeface="Calibri"/>
              </a:rPr>
              <a:t>Using this python library fetched the latitude and longitude of the districts</a:t>
            </a:r>
          </a:p>
          <a:p>
            <a:r>
              <a:rPr lang="en-US" b="1" dirty="0"/>
              <a:t>Weather Data – NASA </a:t>
            </a:r>
            <a:r>
              <a:rPr lang="en-US" b="1" err="1"/>
              <a:t>api</a:t>
            </a:r>
            <a:endParaRPr lang="en-US" b="1"/>
          </a:p>
          <a:p>
            <a:pPr lvl="1">
              <a:buFont typeface="Courier New" panose="020B0604020202020204" pitchFamily="34" charset="0"/>
              <a:buChar char="o"/>
            </a:pPr>
            <a:r>
              <a:rPr lang="en-US" dirty="0">
                <a:ea typeface="Calibri"/>
                <a:cs typeface="Calibri"/>
              </a:rPr>
              <a:t>Using the </a:t>
            </a:r>
            <a:r>
              <a:rPr lang="en-US" dirty="0" err="1">
                <a:ea typeface="Calibri"/>
                <a:cs typeface="Calibri"/>
              </a:rPr>
              <a:t>lat</a:t>
            </a:r>
            <a:r>
              <a:rPr lang="en-US" dirty="0">
                <a:ea typeface="Calibri"/>
                <a:cs typeface="Calibri"/>
              </a:rPr>
              <a:t>/long data fetched the average weather for the districts</a:t>
            </a:r>
          </a:p>
          <a:p>
            <a:r>
              <a:rPr lang="en-US" b="1" dirty="0"/>
              <a:t>Soil Data – Open EPI</a:t>
            </a:r>
            <a:endParaRPr lang="en-US" b="1" dirty="0">
              <a:ea typeface="Calibri"/>
              <a:cs typeface="Calibri"/>
            </a:endParaRPr>
          </a:p>
          <a:p>
            <a:pPr lvl="1">
              <a:buFont typeface="Courier New" panose="020B0604020202020204" pitchFamily="34" charset="0"/>
              <a:buChar char="o"/>
            </a:pPr>
            <a:r>
              <a:rPr lang="en-US" dirty="0">
                <a:ea typeface="Calibri" panose="020F0502020204030204"/>
                <a:cs typeface="Calibri" panose="020F0502020204030204"/>
              </a:rPr>
              <a:t>Using the </a:t>
            </a:r>
            <a:r>
              <a:rPr lang="en-US" dirty="0" err="1">
                <a:ea typeface="Calibri" panose="020F0502020204030204"/>
                <a:cs typeface="Calibri" panose="020F0502020204030204"/>
              </a:rPr>
              <a:t>lat</a:t>
            </a:r>
            <a:r>
              <a:rPr lang="en-US" dirty="0">
                <a:ea typeface="Calibri" panose="020F0502020204030204"/>
                <a:cs typeface="Calibri" panose="020F0502020204030204"/>
              </a:rPr>
              <a:t>/long data fetched the average soil condition for the districts</a:t>
            </a:r>
          </a:p>
          <a:p>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3564792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71E24-2A57-4679-9F9F-46A57F060771}"/>
              </a:ext>
            </a:extLst>
          </p:cNvPr>
          <p:cNvSpPr>
            <a:spLocks noGrp="1"/>
          </p:cNvSpPr>
          <p:nvPr>
            <p:ph type="title"/>
          </p:nvPr>
        </p:nvSpPr>
        <p:spPr/>
        <p:txBody>
          <a:bodyPr/>
          <a:lstStyle/>
          <a:p>
            <a:r>
              <a:rPr lang="en-US" dirty="0"/>
              <a:t>Variation in Soil Properties</a:t>
            </a:r>
          </a:p>
        </p:txBody>
      </p:sp>
      <p:sp>
        <p:nvSpPr>
          <p:cNvPr id="3" name="Content Placeholder 2">
            <a:extLst>
              <a:ext uri="{FF2B5EF4-FFF2-40B4-BE49-F238E27FC236}">
                <a16:creationId xmlns:a16="http://schemas.microsoft.com/office/drawing/2014/main" id="{E3F4B1ED-70B5-4DFB-96C1-72FBE7FF91D0}"/>
              </a:ext>
            </a:extLst>
          </p:cNvPr>
          <p:cNvSpPr>
            <a:spLocks noGrp="1"/>
          </p:cNvSpPr>
          <p:nvPr>
            <p:ph idx="1"/>
          </p:nvPr>
        </p:nvSpPr>
        <p:spPr/>
        <p:txBody>
          <a:bodyPr/>
          <a:lstStyle/>
          <a:p>
            <a:r>
              <a:rPr lang="en-US" dirty="0"/>
              <a:t>Does not vary with time within a single district.</a:t>
            </a:r>
          </a:p>
          <a:p>
            <a:r>
              <a:rPr lang="en-US" dirty="0"/>
              <a:t>Shows spatial variation across different districts.</a:t>
            </a:r>
          </a:p>
          <a:p>
            <a:r>
              <a:rPr lang="en-US" dirty="0"/>
              <a:t>Soil </a:t>
            </a:r>
            <a:r>
              <a:rPr lang="en-US" dirty="0" err="1"/>
              <a:t>ph</a:t>
            </a:r>
            <a:r>
              <a:rPr lang="en-US" dirty="0"/>
              <a:t> and clay content are critical feature impacting yield.</a:t>
            </a:r>
          </a:p>
          <a:p>
            <a:r>
              <a:rPr lang="en-US" dirty="0"/>
              <a:t>Soil </a:t>
            </a:r>
            <a:r>
              <a:rPr lang="en-US" dirty="0" err="1"/>
              <a:t>ph</a:t>
            </a:r>
            <a:r>
              <a:rPr lang="en-US" dirty="0"/>
              <a:t> determines how well crops absorb nutrients. It should not be too acidic or alkaline</a:t>
            </a:r>
          </a:p>
          <a:p>
            <a:r>
              <a:rPr lang="en-US" dirty="0"/>
              <a:t>Clay content determines water holding capacity of soil.</a:t>
            </a:r>
          </a:p>
        </p:txBody>
      </p:sp>
    </p:spTree>
    <p:extLst>
      <p:ext uri="{BB962C8B-B14F-4D97-AF65-F5344CB8AC3E}">
        <p14:creationId xmlns:p14="http://schemas.microsoft.com/office/powerpoint/2010/main" val="854935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5ACEE-7E27-4761-AF7F-C60FEABA4E2E}"/>
              </a:ext>
            </a:extLst>
          </p:cNvPr>
          <p:cNvSpPr>
            <a:spLocks noGrp="1"/>
          </p:cNvSpPr>
          <p:nvPr>
            <p:ph type="title"/>
          </p:nvPr>
        </p:nvSpPr>
        <p:spPr/>
        <p:txBody>
          <a:bodyPr/>
          <a:lstStyle/>
          <a:p>
            <a:r>
              <a:rPr lang="en-US" dirty="0"/>
              <a:t>Variation in Weather</a:t>
            </a:r>
          </a:p>
        </p:txBody>
      </p:sp>
      <p:sp>
        <p:nvSpPr>
          <p:cNvPr id="3" name="Content Placeholder 2">
            <a:extLst>
              <a:ext uri="{FF2B5EF4-FFF2-40B4-BE49-F238E27FC236}">
                <a16:creationId xmlns:a16="http://schemas.microsoft.com/office/drawing/2014/main" id="{EAD3C814-2909-4751-92C3-076E5B24E55E}"/>
              </a:ext>
            </a:extLst>
          </p:cNvPr>
          <p:cNvSpPr>
            <a:spLocks noGrp="1"/>
          </p:cNvSpPr>
          <p:nvPr>
            <p:ph idx="1"/>
          </p:nvPr>
        </p:nvSpPr>
        <p:spPr/>
        <p:txBody>
          <a:bodyPr/>
          <a:lstStyle/>
          <a:p>
            <a:r>
              <a:rPr lang="en-US" dirty="0" err="1"/>
              <a:t>Foodgrains</a:t>
            </a:r>
            <a:r>
              <a:rPr lang="en-US" dirty="0"/>
              <a:t> – Average temperature was the most important feature.</a:t>
            </a:r>
          </a:p>
          <a:p>
            <a:r>
              <a:rPr lang="en-US" dirty="0"/>
              <a:t>Cereals – Average temperature and average humidity were the most important feature.</a:t>
            </a:r>
          </a:p>
        </p:txBody>
      </p:sp>
    </p:spTree>
    <p:extLst>
      <p:ext uri="{BB962C8B-B14F-4D97-AF65-F5344CB8AC3E}">
        <p14:creationId xmlns:p14="http://schemas.microsoft.com/office/powerpoint/2010/main" val="100909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8B9C9-4374-FA03-8D16-52359300059B}"/>
              </a:ext>
            </a:extLst>
          </p:cNvPr>
          <p:cNvSpPr>
            <a:spLocks noGrp="1"/>
          </p:cNvSpPr>
          <p:nvPr>
            <p:ph type="title"/>
          </p:nvPr>
        </p:nvSpPr>
        <p:spPr/>
        <p:txBody>
          <a:bodyPr/>
          <a:lstStyle/>
          <a:p>
            <a:r>
              <a:rPr lang="en-GB" dirty="0">
                <a:ea typeface="Calibri Light"/>
                <a:cs typeface="Calibri Light"/>
              </a:rPr>
              <a:t>Model Comparison</a:t>
            </a:r>
            <a:endParaRPr lang="en-GB" dirty="0"/>
          </a:p>
        </p:txBody>
      </p:sp>
      <p:graphicFrame>
        <p:nvGraphicFramePr>
          <p:cNvPr id="5" name="Content Placeholder 4">
            <a:extLst>
              <a:ext uri="{FF2B5EF4-FFF2-40B4-BE49-F238E27FC236}">
                <a16:creationId xmlns:a16="http://schemas.microsoft.com/office/drawing/2014/main" id="{C1772FB5-CFE6-EF6A-FE42-F6FFB2CF46F0}"/>
              </a:ext>
            </a:extLst>
          </p:cNvPr>
          <p:cNvGraphicFramePr>
            <a:graphicFrameLocks noGrp="1"/>
          </p:cNvGraphicFramePr>
          <p:nvPr>
            <p:ph idx="1"/>
            <p:extLst>
              <p:ext uri="{D42A27DB-BD31-4B8C-83A1-F6EECF244321}">
                <p14:modId xmlns:p14="http://schemas.microsoft.com/office/powerpoint/2010/main" val="1812969032"/>
              </p:ext>
            </p:extLst>
          </p:nvPr>
        </p:nvGraphicFramePr>
        <p:xfrm>
          <a:off x="838200" y="1825625"/>
          <a:ext cx="10515594" cy="2507640"/>
        </p:xfrm>
        <a:graphic>
          <a:graphicData uri="http://schemas.openxmlformats.org/drawingml/2006/table">
            <a:tbl>
              <a:tblPr bandRow="1">
                <a:tableStyleId>{5C22544A-7EE6-4342-B048-85BDC9FD1C3A}</a:tableStyleId>
              </a:tblPr>
              <a:tblGrid>
                <a:gridCol w="671208">
                  <a:extLst>
                    <a:ext uri="{9D8B030D-6E8A-4147-A177-3AD203B41FA5}">
                      <a16:colId xmlns:a16="http://schemas.microsoft.com/office/drawing/2014/main" val="1949065006"/>
                    </a:ext>
                  </a:extLst>
                </a:gridCol>
                <a:gridCol w="1640731">
                  <a:extLst>
                    <a:ext uri="{9D8B030D-6E8A-4147-A177-3AD203B41FA5}">
                      <a16:colId xmlns:a16="http://schemas.microsoft.com/office/drawing/2014/main" val="2437769975"/>
                    </a:ext>
                  </a:extLst>
                </a:gridCol>
                <a:gridCol w="1640731">
                  <a:extLst>
                    <a:ext uri="{9D8B030D-6E8A-4147-A177-3AD203B41FA5}">
                      <a16:colId xmlns:a16="http://schemas.microsoft.com/office/drawing/2014/main" val="4042234595"/>
                    </a:ext>
                  </a:extLst>
                </a:gridCol>
                <a:gridCol w="1640731">
                  <a:extLst>
                    <a:ext uri="{9D8B030D-6E8A-4147-A177-3AD203B41FA5}">
                      <a16:colId xmlns:a16="http://schemas.microsoft.com/office/drawing/2014/main" val="3919710836"/>
                    </a:ext>
                  </a:extLst>
                </a:gridCol>
                <a:gridCol w="1640731">
                  <a:extLst>
                    <a:ext uri="{9D8B030D-6E8A-4147-A177-3AD203B41FA5}">
                      <a16:colId xmlns:a16="http://schemas.microsoft.com/office/drawing/2014/main" val="333781154"/>
                    </a:ext>
                  </a:extLst>
                </a:gridCol>
                <a:gridCol w="1640731">
                  <a:extLst>
                    <a:ext uri="{9D8B030D-6E8A-4147-A177-3AD203B41FA5}">
                      <a16:colId xmlns:a16="http://schemas.microsoft.com/office/drawing/2014/main" val="869597319"/>
                    </a:ext>
                  </a:extLst>
                </a:gridCol>
                <a:gridCol w="1640731">
                  <a:extLst>
                    <a:ext uri="{9D8B030D-6E8A-4147-A177-3AD203B41FA5}">
                      <a16:colId xmlns:a16="http://schemas.microsoft.com/office/drawing/2014/main" val="2266316122"/>
                    </a:ext>
                  </a:extLst>
                </a:gridCol>
              </a:tblGrid>
              <a:tr h="626910">
                <a:tc>
                  <a:txBody>
                    <a:bodyPr/>
                    <a:lstStyle/>
                    <a:p>
                      <a:pPr algn="ctr">
                        <a:buNone/>
                      </a:pPr>
                      <a:endParaRPr lang="en-GB">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gridSpan="2">
                  <a:txBody>
                    <a:bodyPr/>
                    <a:lstStyle/>
                    <a:p>
                      <a:pPr algn="ctr">
                        <a:buNone/>
                      </a:pPr>
                      <a:r>
                        <a:rPr lang="en-GB" dirty="0">
                          <a:effectLst/>
                        </a:rPr>
                        <a:t>Foodgrains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GB"/>
                    </a:p>
                  </a:txBody>
                  <a:tcPr/>
                </a:tc>
                <a:tc gridSpan="2">
                  <a:txBody>
                    <a:bodyPr/>
                    <a:lstStyle/>
                    <a:p>
                      <a:pPr algn="ctr">
                        <a:buNone/>
                      </a:pPr>
                      <a:r>
                        <a:rPr lang="en-GB" dirty="0">
                          <a:effectLst/>
                        </a:rPr>
                        <a:t>Cereals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GB"/>
                    </a:p>
                  </a:txBody>
                  <a:tcPr/>
                </a:tc>
                <a:tc gridSpan="2">
                  <a:txBody>
                    <a:bodyPr/>
                    <a:lstStyle/>
                    <a:p>
                      <a:pPr algn="ctr">
                        <a:buNone/>
                      </a:pPr>
                      <a:r>
                        <a:rPr lang="en-GB" dirty="0">
                          <a:effectLst/>
                        </a:rPr>
                        <a:t>Oilseeds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GB"/>
                    </a:p>
                  </a:txBody>
                  <a:tcPr/>
                </a:tc>
                <a:extLst>
                  <a:ext uri="{0D108BD9-81ED-4DB2-BD59-A6C34878D82A}">
                    <a16:rowId xmlns:a16="http://schemas.microsoft.com/office/drawing/2014/main" val="3310314499"/>
                  </a:ext>
                </a:extLst>
              </a:tr>
              <a:tr h="626910">
                <a:tc>
                  <a:txBody>
                    <a:bodyPr/>
                    <a:lstStyle/>
                    <a:p>
                      <a:pPr algn="ctr">
                        <a:buNone/>
                      </a:pPr>
                      <a:endParaRPr lang="en-GB">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Random Forest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Linear Regression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Random Forest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Linear Regression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Random Forest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Linear Regression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125678506"/>
                  </a:ext>
                </a:extLst>
              </a:tr>
              <a:tr h="626910">
                <a:tc>
                  <a:txBody>
                    <a:bodyPr/>
                    <a:lstStyle/>
                    <a:p>
                      <a:pPr algn="ctr">
                        <a:buNone/>
                      </a:pPr>
                      <a:r>
                        <a:rPr lang="en-GB" dirty="0">
                          <a:effectLst/>
                        </a:rPr>
                        <a:t>RMSE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0.38</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0.78</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0.48</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0.48</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0.94</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1.41</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5634371"/>
                  </a:ext>
                </a:extLst>
              </a:tr>
              <a:tr h="626910">
                <a:tc>
                  <a:txBody>
                    <a:bodyPr/>
                    <a:lstStyle/>
                    <a:p>
                      <a:pPr algn="ctr">
                        <a:buNone/>
                      </a:pPr>
                      <a:r>
                        <a:rPr lang="en-GB" dirty="0">
                          <a:effectLst/>
                        </a:rPr>
                        <a:t>R2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0.83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0.32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0.77</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0.77</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0.59</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GB" dirty="0"/>
                        <a:t>0.09</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538418454"/>
                  </a:ext>
                </a:extLst>
              </a:tr>
            </a:tbl>
          </a:graphicData>
        </a:graphic>
      </p:graphicFrame>
    </p:spTree>
    <p:extLst>
      <p:ext uri="{BB962C8B-B14F-4D97-AF65-F5344CB8AC3E}">
        <p14:creationId xmlns:p14="http://schemas.microsoft.com/office/powerpoint/2010/main" val="243919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E60CF-0750-0D06-6EB3-E6F7EE4AB069}"/>
              </a:ext>
            </a:extLst>
          </p:cNvPr>
          <p:cNvSpPr>
            <a:spLocks noGrp="1"/>
          </p:cNvSpPr>
          <p:nvPr>
            <p:ph type="title"/>
          </p:nvPr>
        </p:nvSpPr>
        <p:spPr/>
        <p:txBody>
          <a:bodyPr/>
          <a:lstStyle/>
          <a:p>
            <a:r>
              <a:rPr lang="en-GB" dirty="0">
                <a:ea typeface="Calibri Light"/>
                <a:cs typeface="Calibri Light"/>
              </a:rPr>
              <a:t>Why Random Forest performed better</a:t>
            </a:r>
            <a:endParaRPr lang="en-GB" dirty="0"/>
          </a:p>
        </p:txBody>
      </p:sp>
      <p:sp>
        <p:nvSpPr>
          <p:cNvPr id="3" name="Content Placeholder 2">
            <a:extLst>
              <a:ext uri="{FF2B5EF4-FFF2-40B4-BE49-F238E27FC236}">
                <a16:creationId xmlns:a16="http://schemas.microsoft.com/office/drawing/2014/main" id="{0D5861FE-AA44-6BBC-6B42-AEB3A914B658}"/>
              </a:ext>
            </a:extLst>
          </p:cNvPr>
          <p:cNvSpPr>
            <a:spLocks noGrp="1"/>
          </p:cNvSpPr>
          <p:nvPr>
            <p:ph idx="1"/>
          </p:nvPr>
        </p:nvSpPr>
        <p:spPr/>
        <p:txBody>
          <a:bodyPr vert="horz" lIns="91440" tIns="45720" rIns="91440" bIns="45720" rtlCol="0" anchor="t">
            <a:normAutofit fontScale="92500" lnSpcReduction="20000"/>
          </a:bodyPr>
          <a:lstStyle/>
          <a:p>
            <a:r>
              <a:rPr lang="en-GB" b="1">
                <a:ea typeface="+mn-lt"/>
                <a:cs typeface="+mn-lt"/>
              </a:rPr>
              <a:t>Handles Non-Linear Relationships</a:t>
            </a:r>
            <a:endParaRPr lang="en-US">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Crop yield does not increase linearly with inputs.</a:t>
            </a:r>
          </a:p>
          <a:p>
            <a:pPr lvl="1">
              <a:buFont typeface="Courier New" panose="020B0604020202020204" pitchFamily="34" charset="0"/>
              <a:buChar char="o"/>
            </a:pPr>
            <a:r>
              <a:rPr lang="en-GB" dirty="0">
                <a:ea typeface="+mn-lt"/>
                <a:cs typeface="+mn-lt"/>
              </a:rPr>
              <a:t>Example: Fertilizer improves yield only up to an optimal point, after which yield plateaus or even declines (inverted U-shape).</a:t>
            </a:r>
          </a:p>
          <a:p>
            <a:r>
              <a:rPr lang="en-GB" b="1" dirty="0">
                <a:ea typeface="+mn-lt"/>
                <a:cs typeface="+mn-lt"/>
              </a:rPr>
              <a:t>Captures Threshold Effects</a:t>
            </a:r>
          </a:p>
          <a:p>
            <a:pPr lvl="1">
              <a:buFont typeface="Courier New" panose="020B0604020202020204" pitchFamily="34" charset="0"/>
              <a:buChar char="o"/>
            </a:pPr>
            <a:r>
              <a:rPr lang="en-GB" dirty="0">
                <a:ea typeface="+mn-lt"/>
                <a:cs typeface="+mn-lt"/>
              </a:rPr>
              <a:t>Some variables boost yield only within specific ranges.</a:t>
            </a:r>
            <a:endParaRPr lang="en-GB">
              <a:ea typeface="Calibri"/>
              <a:cs typeface="Calibri"/>
            </a:endParaRPr>
          </a:p>
          <a:p>
            <a:pPr lvl="1">
              <a:buFont typeface="Courier New" panose="020B0604020202020204" pitchFamily="34" charset="0"/>
              <a:buChar char="o"/>
            </a:pPr>
            <a:r>
              <a:rPr lang="en-GB" dirty="0">
                <a:ea typeface="+mn-lt"/>
                <a:cs typeface="+mn-lt"/>
              </a:rPr>
              <a:t>Example: Yield may drop sharply when temperature crosses a critical threshold, even if rainfall is adequate.</a:t>
            </a:r>
          </a:p>
          <a:p>
            <a:r>
              <a:rPr lang="en-GB" b="1" dirty="0">
                <a:ea typeface="+mn-lt"/>
                <a:cs typeface="+mn-lt"/>
              </a:rPr>
              <a:t>Models Complex Interactions</a:t>
            </a:r>
          </a:p>
          <a:p>
            <a:pPr lvl="1">
              <a:buFont typeface="Courier New" panose="020B0604020202020204" pitchFamily="34" charset="0"/>
              <a:buChar char="o"/>
            </a:pPr>
            <a:r>
              <a:rPr lang="en-GB" dirty="0">
                <a:ea typeface="+mn-lt"/>
                <a:cs typeface="+mn-lt"/>
              </a:rPr>
              <a:t>The impact of one factor often depends on another.</a:t>
            </a:r>
            <a:endParaRPr lang="en-GB">
              <a:ea typeface="Calibri"/>
              <a:cs typeface="Calibri"/>
            </a:endParaRPr>
          </a:p>
          <a:p>
            <a:pPr lvl="1">
              <a:buFont typeface="Courier New" panose="020B0604020202020204" pitchFamily="34" charset="0"/>
              <a:buChar char="o"/>
            </a:pPr>
            <a:r>
              <a:rPr lang="en-GB" dirty="0">
                <a:ea typeface="+mn-lt"/>
                <a:cs typeface="+mn-lt"/>
              </a:rPr>
              <a:t>Example: High rainfall can be beneficial on sandy soils but harmful on clay soils.</a:t>
            </a:r>
          </a:p>
          <a:p>
            <a:pPr lvl="1">
              <a:buFont typeface="Courier New" panose="020B0604020202020204" pitchFamily="34" charset="0"/>
              <a:buChar char="o"/>
            </a:pPr>
            <a:r>
              <a:rPr lang="en-GB" dirty="0">
                <a:ea typeface="+mn-lt"/>
                <a:cs typeface="+mn-lt"/>
              </a:rPr>
              <a:t>Linear Regression cannot effectively capture these interaction patterns, while Random Forest can.</a:t>
            </a:r>
          </a:p>
          <a:p>
            <a:endParaRPr lang="en-GB" dirty="0">
              <a:ea typeface="+mn-lt"/>
              <a:cs typeface="+mn-lt"/>
            </a:endParaRPr>
          </a:p>
        </p:txBody>
      </p:sp>
    </p:spTree>
    <p:extLst>
      <p:ext uri="{BB962C8B-B14F-4D97-AF65-F5344CB8AC3E}">
        <p14:creationId xmlns:p14="http://schemas.microsoft.com/office/powerpoint/2010/main" val="2636369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B48FBD-772C-9851-06A5-FBD4F445C1F0}"/>
              </a:ext>
            </a:extLst>
          </p:cNvPr>
          <p:cNvSpPr>
            <a:spLocks noGrp="1"/>
          </p:cNvSpPr>
          <p:nvPr>
            <p:ph type="title"/>
          </p:nvPr>
        </p:nvSpPr>
        <p:spPr>
          <a:xfrm>
            <a:off x="589560" y="856180"/>
            <a:ext cx="4560584" cy="1128068"/>
          </a:xfrm>
        </p:spPr>
        <p:txBody>
          <a:bodyPr vert="horz" lIns="91440" tIns="45720" rIns="91440" bIns="45720" rtlCol="0" anchor="ctr">
            <a:noAutofit/>
          </a:bodyPr>
          <a:lstStyle/>
          <a:p>
            <a:r>
              <a:rPr lang="en-US" dirty="0"/>
              <a:t>Performance for Food Grains</a:t>
            </a:r>
          </a:p>
        </p:txBody>
      </p:sp>
      <p:sp>
        <p:nvSpPr>
          <p:cNvPr id="4" name="Content Placeholder 3">
            <a:extLst>
              <a:ext uri="{FF2B5EF4-FFF2-40B4-BE49-F238E27FC236}">
                <a16:creationId xmlns:a16="http://schemas.microsoft.com/office/drawing/2014/main" id="{3763C316-850C-19AD-AC30-8EBC09E151CC}"/>
              </a:ext>
            </a:extLst>
          </p:cNvPr>
          <p:cNvSpPr>
            <a:spLocks noGrp="1"/>
          </p:cNvSpPr>
          <p:nvPr>
            <p:ph sz="half" idx="2"/>
          </p:nvPr>
        </p:nvSpPr>
        <p:spPr>
          <a:xfrm>
            <a:off x="590719" y="2330505"/>
            <a:ext cx="4559425" cy="3979585"/>
          </a:xfrm>
        </p:spPr>
        <p:txBody>
          <a:bodyPr vert="horz" lIns="91440" tIns="45720" rIns="91440" bIns="45720" rtlCol="0" anchor="ctr">
            <a:normAutofit/>
          </a:bodyPr>
          <a:lstStyle/>
          <a:p>
            <a:r>
              <a:rPr lang="en-US" sz="2000" dirty="0">
                <a:ea typeface="+mn-lt"/>
                <a:cs typeface="+mn-lt"/>
              </a:rPr>
              <a:t>The Random Forest model (R2=0.84) provides an excellent for the foodgrain data, with the blue data points tightly clustered around the perfect prediction line (Y=X).</a:t>
            </a:r>
          </a:p>
          <a:p>
            <a:r>
              <a:rPr lang="en-US" sz="2000" dirty="0">
                <a:ea typeface="+mn-lt"/>
                <a:cs typeface="+mn-lt"/>
              </a:rPr>
              <a:t>The difference in performance between Random Forest and Linear Regression (R2=0.32) confirms that the relationship between input features and foodgrain yield is highly </a:t>
            </a:r>
            <a:r>
              <a:rPr lang="en-US" sz="2000" dirty="0" err="1">
                <a:ea typeface="+mn-lt"/>
                <a:cs typeface="+mn-lt"/>
              </a:rPr>
              <a:t>non linear</a:t>
            </a:r>
            <a:r>
              <a:rPr lang="en-US" sz="2000" dirty="0">
                <a:ea typeface="+mn-lt"/>
                <a:cs typeface="+mn-lt"/>
              </a:rPr>
              <a:t>.</a:t>
            </a:r>
            <a:endParaRPr lang="en-US" sz="2000" dirty="0">
              <a:ea typeface="Calibri" panose="020F0502020204030204"/>
              <a:cs typeface="Calibri" panose="020F0502020204030204"/>
            </a:endParaRPr>
          </a:p>
        </p:txBody>
      </p:sp>
      <p:sp>
        <p:nvSpPr>
          <p:cNvPr id="33" name="Rectangle 3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a graph showing a red and blue line&#10;&#10;AI-generated content may be incorrect.">
            <a:extLst>
              <a:ext uri="{FF2B5EF4-FFF2-40B4-BE49-F238E27FC236}">
                <a16:creationId xmlns:a16="http://schemas.microsoft.com/office/drawing/2014/main" id="{50C73695-3935-721C-AA6B-8B6A57A8989A}"/>
              </a:ext>
            </a:extLst>
          </p:cNvPr>
          <p:cNvPicPr>
            <a:picLocks noGrp="1" noChangeAspect="1"/>
          </p:cNvPicPr>
          <p:nvPr>
            <p:ph sz="half" idx="1"/>
          </p:nvPr>
        </p:nvPicPr>
        <p:blipFill>
          <a:blip r:embed="rId2"/>
          <a:srcRect l="2209" r="50" b="2"/>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740785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707373-6402-700E-BA17-A2019430A1E6}"/>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CC0241-7C87-5A40-464A-0C78CD2F7A03}"/>
              </a:ext>
            </a:extLst>
          </p:cNvPr>
          <p:cNvSpPr>
            <a:spLocks noGrp="1"/>
          </p:cNvSpPr>
          <p:nvPr>
            <p:ph type="title"/>
          </p:nvPr>
        </p:nvSpPr>
        <p:spPr>
          <a:xfrm>
            <a:off x="589560" y="856180"/>
            <a:ext cx="4560584" cy="1128068"/>
          </a:xfrm>
        </p:spPr>
        <p:txBody>
          <a:bodyPr vert="horz" lIns="91440" tIns="45720" rIns="91440" bIns="45720" rtlCol="0" anchor="ctr">
            <a:normAutofit fontScale="90000"/>
          </a:bodyPr>
          <a:lstStyle/>
          <a:p>
            <a:r>
              <a:rPr lang="en-US" dirty="0"/>
              <a:t>Performance for Cereals</a:t>
            </a:r>
            <a:endParaRPr lang="en-US"/>
          </a:p>
        </p:txBody>
      </p:sp>
      <p:sp>
        <p:nvSpPr>
          <p:cNvPr id="46" name="Rectangle 4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9E5B4FD-2030-2D4D-E35B-E3FE4A295BF1}"/>
              </a:ext>
            </a:extLst>
          </p:cNvPr>
          <p:cNvSpPr>
            <a:spLocks noGrp="1"/>
          </p:cNvSpPr>
          <p:nvPr>
            <p:ph sz="half" idx="2"/>
          </p:nvPr>
        </p:nvSpPr>
        <p:spPr>
          <a:xfrm>
            <a:off x="590719" y="2330505"/>
            <a:ext cx="4559425" cy="3979585"/>
          </a:xfrm>
        </p:spPr>
        <p:txBody>
          <a:bodyPr vert="horz" lIns="91440" tIns="45720" rIns="91440" bIns="45720" rtlCol="0" anchor="ctr">
            <a:normAutofit/>
          </a:bodyPr>
          <a:lstStyle/>
          <a:p>
            <a:r>
              <a:rPr lang="en-US" sz="2000" dirty="0"/>
              <a:t>The Random Forest model (R2=0.77) provides an excellent for the cereals data, with the blue data points tightly clustered around the perfect prediction line (Y=X). </a:t>
            </a:r>
            <a:r>
              <a:rPr lang="en-US" sz="2000" dirty="0">
                <a:ea typeface="+mn-lt"/>
                <a:cs typeface="+mn-lt"/>
              </a:rPr>
              <a:t>than the Linear Regression model ($R^2=0.31$). This confirms that the factors influencing cereal yield are non linear</a:t>
            </a:r>
            <a:endParaRPr lang="en-US" sz="2000" dirty="0">
              <a:ea typeface="Calibri"/>
              <a:cs typeface="Calibri"/>
            </a:endParaRPr>
          </a:p>
          <a:p>
            <a:r>
              <a:rPr lang="en-US" sz="2000" dirty="0">
                <a:ea typeface="+mn-lt"/>
                <a:cs typeface="+mn-lt"/>
              </a:rPr>
              <a:t>Features in the dataset account for a larger proportion of the variance in foodgrain yield than in cereal yield.</a:t>
            </a:r>
            <a:endParaRPr lang="en-US" sz="2000" dirty="0">
              <a:ea typeface="Calibri"/>
              <a:cs typeface="Calibri"/>
            </a:endParaRPr>
          </a:p>
        </p:txBody>
      </p:sp>
      <p:sp>
        <p:nvSpPr>
          <p:cNvPr id="48" name="Rectangle 4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F999A884-03ED-99EC-272C-0052399B4363}"/>
              </a:ext>
            </a:extLst>
          </p:cNvPr>
          <p:cNvPicPr>
            <a:picLocks noGrp="1" noChangeAspect="1"/>
          </p:cNvPicPr>
          <p:nvPr>
            <p:ph sz="half" idx="1"/>
          </p:nvPr>
        </p:nvPicPr>
        <p:blipFill>
          <a:blip r:embed="rId2"/>
          <a:stretch>
            <a:fillRect/>
          </a:stretch>
        </p:blipFill>
        <p:spPr>
          <a:xfrm>
            <a:off x="6052682" y="994353"/>
            <a:ext cx="5182029" cy="5182609"/>
          </a:xfrm>
          <a:prstGeom prst="rect">
            <a:avLst/>
          </a:prstGeom>
        </p:spPr>
      </p:pic>
    </p:spTree>
    <p:extLst>
      <p:ext uri="{BB962C8B-B14F-4D97-AF65-F5344CB8AC3E}">
        <p14:creationId xmlns:p14="http://schemas.microsoft.com/office/powerpoint/2010/main" val="1576867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ADF585-121A-18F7-480C-54515E352251}"/>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19B8D8C4-C953-46DF-B19C-696FE6238A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459F82-7E28-378C-5D4C-5C4E34FD4B72}"/>
              </a:ext>
            </a:extLst>
          </p:cNvPr>
          <p:cNvSpPr>
            <a:spLocks noGrp="1"/>
          </p:cNvSpPr>
          <p:nvPr>
            <p:ph type="title"/>
          </p:nvPr>
        </p:nvSpPr>
        <p:spPr>
          <a:xfrm>
            <a:off x="589560" y="856180"/>
            <a:ext cx="4560584" cy="1128068"/>
          </a:xfrm>
        </p:spPr>
        <p:txBody>
          <a:bodyPr vert="horz" lIns="91440" tIns="45720" rIns="91440" bIns="45720" rtlCol="0" anchor="ctr">
            <a:noAutofit/>
          </a:bodyPr>
          <a:lstStyle/>
          <a:p>
            <a:r>
              <a:rPr lang="en-US" dirty="0"/>
              <a:t>Performance for Oilseed</a:t>
            </a:r>
          </a:p>
        </p:txBody>
      </p:sp>
      <p:sp>
        <p:nvSpPr>
          <p:cNvPr id="46" name="Rectangle 45">
            <a:extLst>
              <a:ext uri="{FF2B5EF4-FFF2-40B4-BE49-F238E27FC236}">
                <a16:creationId xmlns:a16="http://schemas.microsoft.com/office/drawing/2014/main" id="{DDB06CE7-B468-47DC-7AB4-5A7289683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1206041-ABEA-CECE-62D4-548F4D29A869}"/>
              </a:ext>
            </a:extLst>
          </p:cNvPr>
          <p:cNvSpPr>
            <a:spLocks noGrp="1"/>
          </p:cNvSpPr>
          <p:nvPr>
            <p:ph sz="half" idx="2"/>
          </p:nvPr>
        </p:nvSpPr>
        <p:spPr>
          <a:xfrm>
            <a:off x="590719" y="2330505"/>
            <a:ext cx="4559425" cy="3979585"/>
          </a:xfrm>
        </p:spPr>
        <p:txBody>
          <a:bodyPr vert="horz" lIns="91440" tIns="45720" rIns="91440" bIns="45720" rtlCol="0" anchor="ctr">
            <a:normAutofit/>
          </a:bodyPr>
          <a:lstStyle/>
          <a:p>
            <a:r>
              <a:rPr lang="en-US" sz="2000" dirty="0">
                <a:ea typeface="+mn-lt"/>
                <a:cs typeface="+mn-lt"/>
              </a:rPr>
              <a:t>Despite the Random Forest improvement, the blue data points are much more scattered and exhibit a larger spread away from the perfect prediction line (Y=X) than the Foodgrains model. This indicates that a significant amount of the variance in oilseed yield (the remaining 41%) is unexplained by the current features in the dataset, suggesting higher noise or missing variables.</a:t>
            </a:r>
            <a:endParaRPr lang="en-US" sz="2000" dirty="0">
              <a:ea typeface="Calibri"/>
              <a:cs typeface="Calibri"/>
            </a:endParaRPr>
          </a:p>
        </p:txBody>
      </p:sp>
      <p:sp>
        <p:nvSpPr>
          <p:cNvPr id="48" name="Rectangle 47">
            <a:extLst>
              <a:ext uri="{FF2B5EF4-FFF2-40B4-BE49-F238E27FC236}">
                <a16:creationId xmlns:a16="http://schemas.microsoft.com/office/drawing/2014/main" id="{6B72827C-BB3D-CFE0-BB03-825CF8A35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52D83B9-72EE-CF51-929D-5135063BD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graph with a line and a dotted line&#10;&#10;AI-generated content may be incorrect.">
            <a:extLst>
              <a:ext uri="{FF2B5EF4-FFF2-40B4-BE49-F238E27FC236}">
                <a16:creationId xmlns:a16="http://schemas.microsoft.com/office/drawing/2014/main" id="{12920C4F-A1E8-14DD-FB08-4CE2D88E3F38}"/>
              </a:ext>
            </a:extLst>
          </p:cNvPr>
          <p:cNvPicPr>
            <a:picLocks noGrp="1" noChangeAspect="1"/>
          </p:cNvPicPr>
          <p:nvPr>
            <p:ph sz="half" idx="1"/>
          </p:nvPr>
        </p:nvPicPr>
        <p:blipFill>
          <a:blip r:embed="rId2"/>
          <a:stretch>
            <a:fillRect/>
          </a:stretch>
        </p:blipFill>
        <p:spPr>
          <a:xfrm>
            <a:off x="6094978" y="986656"/>
            <a:ext cx="5112830" cy="5113337"/>
          </a:xfrm>
          <a:prstGeom prst="rect">
            <a:avLst/>
          </a:prstGeom>
        </p:spPr>
      </p:pic>
    </p:spTree>
    <p:extLst>
      <p:ext uri="{BB962C8B-B14F-4D97-AF65-F5344CB8AC3E}">
        <p14:creationId xmlns:p14="http://schemas.microsoft.com/office/powerpoint/2010/main" val="1404689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5BADF-BF5D-9ACC-BAAD-66C8DB4CBB59}"/>
              </a:ext>
            </a:extLst>
          </p:cNvPr>
          <p:cNvSpPr>
            <a:spLocks noGrp="1"/>
          </p:cNvSpPr>
          <p:nvPr>
            <p:ph type="title"/>
          </p:nvPr>
        </p:nvSpPr>
        <p:spPr/>
        <p:txBody>
          <a:bodyPr/>
          <a:lstStyle/>
          <a:p>
            <a:r>
              <a:rPr lang="en-GB" dirty="0">
                <a:ea typeface="Calibri Light"/>
                <a:cs typeface="Calibri Light"/>
              </a:rPr>
              <a:t>SHAP summary plot</a:t>
            </a:r>
            <a:endParaRPr lang="en-GB" dirty="0"/>
          </a:p>
        </p:txBody>
      </p:sp>
      <p:sp>
        <p:nvSpPr>
          <p:cNvPr id="3" name="Content Placeholder 2">
            <a:extLst>
              <a:ext uri="{FF2B5EF4-FFF2-40B4-BE49-F238E27FC236}">
                <a16:creationId xmlns:a16="http://schemas.microsoft.com/office/drawing/2014/main" id="{645F69A3-0518-BAEF-A1DF-279083A6C796}"/>
              </a:ext>
            </a:extLst>
          </p:cNvPr>
          <p:cNvSpPr>
            <a:spLocks noGrp="1"/>
          </p:cNvSpPr>
          <p:nvPr>
            <p:ph idx="1"/>
          </p:nvPr>
        </p:nvSpPr>
        <p:spPr/>
        <p:txBody>
          <a:bodyPr vert="horz" lIns="91440" tIns="45720" rIns="91440" bIns="45720" rtlCol="0" anchor="t">
            <a:normAutofit fontScale="92500" lnSpcReduction="20000"/>
          </a:bodyPr>
          <a:lstStyle/>
          <a:p>
            <a:r>
              <a:rPr lang="en-GB" dirty="0">
                <a:ea typeface="+mn-lt"/>
                <a:cs typeface="+mn-lt"/>
              </a:rPr>
              <a:t>Horizontal Stretch (X-axis)</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Shows impact strength.</a:t>
            </a:r>
            <a:endParaRPr lang="en-GB">
              <a:ea typeface="Calibri"/>
              <a:cs typeface="Calibri"/>
            </a:endParaRPr>
          </a:p>
          <a:p>
            <a:pPr lvl="1">
              <a:buFont typeface="Courier New" panose="020B0604020202020204" pitchFamily="34" charset="0"/>
              <a:buChar char="o"/>
            </a:pPr>
            <a:r>
              <a:rPr lang="en-GB" dirty="0">
                <a:ea typeface="+mn-lt"/>
                <a:cs typeface="+mn-lt"/>
              </a:rPr>
              <a:t>Right = increases prediction, Left = decreases prediction.</a:t>
            </a:r>
            <a:endParaRPr lang="en-GB">
              <a:ea typeface="Calibri"/>
              <a:cs typeface="Calibri"/>
            </a:endParaRPr>
          </a:p>
          <a:p>
            <a:pPr lvl="1">
              <a:buFont typeface="Courier New" panose="020B0604020202020204" pitchFamily="34" charset="0"/>
              <a:buChar char="o"/>
            </a:pPr>
            <a:r>
              <a:rPr lang="en-GB" dirty="0">
                <a:ea typeface="+mn-lt"/>
                <a:cs typeface="+mn-lt"/>
              </a:rPr>
              <a:t>Wider spread = feature has higher variation in influence.</a:t>
            </a:r>
            <a:endParaRPr lang="en-GB">
              <a:ea typeface="Calibri"/>
              <a:cs typeface="Calibri"/>
            </a:endParaRPr>
          </a:p>
          <a:p>
            <a:r>
              <a:rPr lang="en-GB" dirty="0">
                <a:ea typeface="+mn-lt"/>
                <a:cs typeface="+mn-lt"/>
              </a:rPr>
              <a:t>Vertical Position (Y-axis)</a:t>
            </a:r>
            <a:endParaRPr lang="en-GB" dirty="0"/>
          </a:p>
          <a:p>
            <a:pPr lvl="1">
              <a:buFont typeface="Courier New" panose="020B0604020202020204" pitchFamily="34" charset="0"/>
              <a:buChar char="o"/>
            </a:pPr>
            <a:r>
              <a:rPr lang="en-GB" dirty="0">
                <a:ea typeface="+mn-lt"/>
                <a:cs typeface="+mn-lt"/>
              </a:rPr>
              <a:t>Features are ranked by importance (top = most important).</a:t>
            </a:r>
            <a:endParaRPr lang="en-GB">
              <a:ea typeface="Calibri"/>
              <a:cs typeface="Calibri"/>
            </a:endParaRPr>
          </a:p>
          <a:p>
            <a:r>
              <a:rPr lang="en-GB" dirty="0" err="1">
                <a:ea typeface="+mn-lt"/>
                <a:cs typeface="+mn-lt"/>
              </a:rPr>
              <a:t>Color</a:t>
            </a:r>
            <a:r>
              <a:rPr lang="en-GB" dirty="0">
                <a:ea typeface="+mn-lt"/>
                <a:cs typeface="+mn-lt"/>
              </a:rPr>
              <a:t> Coding</a:t>
            </a:r>
            <a:endParaRPr lang="en-GB" dirty="0"/>
          </a:p>
          <a:p>
            <a:pPr lvl="1">
              <a:buFont typeface="Courier New" panose="020B0604020202020204" pitchFamily="34" charset="0"/>
              <a:buChar char="o"/>
            </a:pPr>
            <a:r>
              <a:rPr lang="en-GB" dirty="0">
                <a:ea typeface="+mn-lt"/>
                <a:cs typeface="+mn-lt"/>
              </a:rPr>
              <a:t>Red = high feature value, Blue = low feature value.</a:t>
            </a:r>
            <a:endParaRPr lang="en-GB">
              <a:ea typeface="Calibri"/>
              <a:cs typeface="Calibri"/>
            </a:endParaRPr>
          </a:p>
          <a:p>
            <a:pPr lvl="1">
              <a:buFont typeface="Courier New" panose="020B0604020202020204" pitchFamily="34" charset="0"/>
              <a:buChar char="o"/>
            </a:pPr>
            <a:r>
              <a:rPr lang="en-GB" dirty="0">
                <a:ea typeface="+mn-lt"/>
                <a:cs typeface="+mn-lt"/>
              </a:rPr>
              <a:t>Shows whether high or low values push predictions up or down.</a:t>
            </a:r>
            <a:endParaRPr lang="en-GB">
              <a:ea typeface="Calibri"/>
              <a:cs typeface="Calibri"/>
            </a:endParaRPr>
          </a:p>
          <a:p>
            <a:r>
              <a:rPr lang="en-GB" dirty="0">
                <a:ea typeface="+mn-lt"/>
                <a:cs typeface="+mn-lt"/>
              </a:rPr>
              <a:t>Positive vs Negative Values</a:t>
            </a:r>
            <a:endParaRPr lang="en-GB" dirty="0"/>
          </a:p>
          <a:p>
            <a:pPr lvl="1">
              <a:buFont typeface="Courier New" panose="020B0604020202020204" pitchFamily="34" charset="0"/>
              <a:buChar char="o"/>
            </a:pPr>
            <a:r>
              <a:rPr lang="en-GB" dirty="0">
                <a:ea typeface="+mn-lt"/>
                <a:cs typeface="+mn-lt"/>
              </a:rPr>
              <a:t>Positive SHAP → pushes prediction up.</a:t>
            </a:r>
            <a:endParaRPr lang="en-GB">
              <a:ea typeface="Calibri"/>
              <a:cs typeface="Calibri"/>
            </a:endParaRPr>
          </a:p>
          <a:p>
            <a:pPr lvl="1">
              <a:buFont typeface="Courier New" panose="020B0604020202020204" pitchFamily="34" charset="0"/>
              <a:buChar char="o"/>
            </a:pPr>
            <a:r>
              <a:rPr lang="en-GB" dirty="0">
                <a:ea typeface="+mn-lt"/>
                <a:cs typeface="+mn-lt"/>
              </a:rPr>
              <a:t>Negative SHAP → pushes prediction down.</a:t>
            </a:r>
            <a:endParaRPr lang="en-GB">
              <a:ea typeface="Calibri"/>
              <a:cs typeface="Calibri"/>
            </a:endParaRPr>
          </a:p>
          <a:p>
            <a:endParaRPr lang="en-GB" dirty="0">
              <a:ea typeface="Calibri"/>
              <a:cs typeface="Calibri"/>
            </a:endParaRPr>
          </a:p>
        </p:txBody>
      </p:sp>
    </p:spTree>
    <p:extLst>
      <p:ext uri="{BB962C8B-B14F-4D97-AF65-F5344CB8AC3E}">
        <p14:creationId xmlns:p14="http://schemas.microsoft.com/office/powerpoint/2010/main" val="418376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F3673F-DCE8-C7BC-D8DF-9AC51DAB2C38}"/>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191AD1AB-293C-A05F-2313-722928FB5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EBCAA7-4802-95FA-D4BA-71573AA2B087}"/>
              </a:ext>
            </a:extLst>
          </p:cNvPr>
          <p:cNvSpPr>
            <a:spLocks noGrp="1"/>
          </p:cNvSpPr>
          <p:nvPr>
            <p:ph type="title"/>
          </p:nvPr>
        </p:nvSpPr>
        <p:spPr>
          <a:xfrm>
            <a:off x="589560" y="856180"/>
            <a:ext cx="4560584" cy="1128068"/>
          </a:xfrm>
        </p:spPr>
        <p:txBody>
          <a:bodyPr vert="horz" lIns="91440" tIns="45720" rIns="91440" bIns="45720" rtlCol="0" anchor="ctr">
            <a:noAutofit/>
          </a:bodyPr>
          <a:lstStyle/>
          <a:p>
            <a:r>
              <a:rPr lang="en-US" sz="3700" dirty="0"/>
              <a:t>Feature Importance for Food grains </a:t>
            </a:r>
            <a:endParaRPr lang="en-US" sz="3700">
              <a:ea typeface="Calibri Light"/>
              <a:cs typeface="Calibri Light"/>
            </a:endParaRPr>
          </a:p>
        </p:txBody>
      </p:sp>
      <p:sp>
        <p:nvSpPr>
          <p:cNvPr id="46" name="Rectangle 45">
            <a:extLst>
              <a:ext uri="{FF2B5EF4-FFF2-40B4-BE49-F238E27FC236}">
                <a16:creationId xmlns:a16="http://schemas.microsoft.com/office/drawing/2014/main" id="{9233ACD2-4247-18AD-91E6-5CE373062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F58FCDEB-4D9D-1B51-502F-804C49642FDD}"/>
              </a:ext>
            </a:extLst>
          </p:cNvPr>
          <p:cNvSpPr>
            <a:spLocks noGrp="1"/>
          </p:cNvSpPr>
          <p:nvPr>
            <p:ph sz="half" idx="2"/>
          </p:nvPr>
        </p:nvSpPr>
        <p:spPr>
          <a:xfrm>
            <a:off x="590719" y="2330505"/>
            <a:ext cx="4559425" cy="3979585"/>
          </a:xfrm>
        </p:spPr>
        <p:txBody>
          <a:bodyPr vert="horz" lIns="91440" tIns="45720" rIns="91440" bIns="45720" rtlCol="0" anchor="ctr">
            <a:normAutofit/>
          </a:bodyPr>
          <a:lstStyle/>
          <a:p>
            <a:r>
              <a:rPr lang="en-US" sz="2000" dirty="0">
                <a:ea typeface="+mn-lt"/>
                <a:cs typeface="+mn-lt"/>
              </a:rPr>
              <a:t>The high R2=0.84 for foodgrains is primarily driven by the model's ability to utilize </a:t>
            </a:r>
            <a:r>
              <a:rPr lang="en-US" sz="2000" b="1" dirty="0">
                <a:ea typeface="+mn-lt"/>
                <a:cs typeface="+mn-lt"/>
              </a:rPr>
              <a:t>s</a:t>
            </a:r>
            <a:r>
              <a:rPr lang="en-US" sz="2000" dirty="0">
                <a:ea typeface="+mn-lt"/>
                <a:cs typeface="+mn-lt"/>
              </a:rPr>
              <a:t>oil characteristics (pH, clay, organic carbon) as the main predictive factors, with climatic variables playing a lesser role. This suggests that soil management and inherent soil quality are the most critical determinants of yield variability captured by the model.</a:t>
            </a:r>
            <a:endParaRPr lang="en-US" sz="2000" dirty="0">
              <a:ea typeface="Calibri"/>
              <a:cs typeface="Calibri"/>
            </a:endParaRPr>
          </a:p>
        </p:txBody>
      </p:sp>
      <p:sp>
        <p:nvSpPr>
          <p:cNvPr id="48" name="Rectangle 47">
            <a:extLst>
              <a:ext uri="{FF2B5EF4-FFF2-40B4-BE49-F238E27FC236}">
                <a16:creationId xmlns:a16="http://schemas.microsoft.com/office/drawing/2014/main" id="{E0208ED1-184E-AB9E-4DFE-C0E15DDAC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2EAFC3E-D1F8-F070-B5BF-285782818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5C872897-64E3-A92C-8C44-366F029055D6}"/>
              </a:ext>
            </a:extLst>
          </p:cNvPr>
          <p:cNvPicPr>
            <a:picLocks noGrp="1" noChangeAspect="1"/>
          </p:cNvPicPr>
          <p:nvPr>
            <p:ph sz="half" idx="1"/>
          </p:nvPr>
        </p:nvPicPr>
        <p:blipFill>
          <a:blip r:embed="rId2"/>
          <a:stretch>
            <a:fillRect/>
          </a:stretch>
        </p:blipFill>
        <p:spPr>
          <a:xfrm>
            <a:off x="6095230" y="1251433"/>
            <a:ext cx="5181600" cy="4622266"/>
          </a:xfrm>
          <a:prstGeom prst="rect">
            <a:avLst/>
          </a:prstGeom>
        </p:spPr>
      </p:pic>
    </p:spTree>
    <p:extLst>
      <p:ext uri="{BB962C8B-B14F-4D97-AF65-F5344CB8AC3E}">
        <p14:creationId xmlns:p14="http://schemas.microsoft.com/office/powerpoint/2010/main" val="650140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1A6635-6F7E-72CA-F856-F3E0B43CAE4D}"/>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056FCF7-2966-B78B-91DE-DD791E30F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E14133-4DC5-68CD-3AFE-69DA52B99FB9}"/>
              </a:ext>
            </a:extLst>
          </p:cNvPr>
          <p:cNvSpPr>
            <a:spLocks noGrp="1"/>
          </p:cNvSpPr>
          <p:nvPr>
            <p:ph type="title"/>
          </p:nvPr>
        </p:nvSpPr>
        <p:spPr>
          <a:xfrm>
            <a:off x="589560" y="856180"/>
            <a:ext cx="4560584" cy="1128068"/>
          </a:xfrm>
        </p:spPr>
        <p:txBody>
          <a:bodyPr vert="horz" lIns="91440" tIns="45720" rIns="91440" bIns="45720" rtlCol="0" anchor="ctr">
            <a:noAutofit/>
          </a:bodyPr>
          <a:lstStyle/>
          <a:p>
            <a:r>
              <a:rPr lang="en-US" sz="3700" dirty="0"/>
              <a:t>Feature Importance for Cereals</a:t>
            </a:r>
            <a:endParaRPr lang="en-US" sz="3700">
              <a:ea typeface="Calibri Light"/>
              <a:cs typeface="Calibri Light"/>
            </a:endParaRPr>
          </a:p>
        </p:txBody>
      </p:sp>
      <p:sp>
        <p:nvSpPr>
          <p:cNvPr id="46" name="Rectangle 45">
            <a:extLst>
              <a:ext uri="{FF2B5EF4-FFF2-40B4-BE49-F238E27FC236}">
                <a16:creationId xmlns:a16="http://schemas.microsoft.com/office/drawing/2014/main" id="{274578AA-FAF6-9460-08F3-C04244DB3D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A95831BB-DC48-0FDC-B3B7-E6D04C800C09}"/>
              </a:ext>
            </a:extLst>
          </p:cNvPr>
          <p:cNvSpPr>
            <a:spLocks noGrp="1"/>
          </p:cNvSpPr>
          <p:nvPr>
            <p:ph sz="half" idx="2"/>
          </p:nvPr>
        </p:nvSpPr>
        <p:spPr>
          <a:xfrm>
            <a:off x="590719" y="2330505"/>
            <a:ext cx="4559425" cy="3979585"/>
          </a:xfrm>
        </p:spPr>
        <p:txBody>
          <a:bodyPr vert="horz" lIns="91440" tIns="45720" rIns="91440" bIns="45720" rtlCol="0" anchor="ctr">
            <a:normAutofit lnSpcReduction="10000"/>
          </a:bodyPr>
          <a:lstStyle/>
          <a:p>
            <a:r>
              <a:rPr lang="en-US" sz="2000" dirty="0">
                <a:ea typeface="Calibri"/>
                <a:cs typeface="Calibri"/>
              </a:rPr>
              <a:t>The horizontal spread is slightly lesser than foodgrain which shows bit less influence on prediction.</a:t>
            </a:r>
          </a:p>
          <a:p>
            <a:r>
              <a:rPr lang="en-US" sz="2000" dirty="0">
                <a:ea typeface="+mn-lt"/>
                <a:cs typeface="+mn-lt"/>
              </a:rPr>
              <a:t>The data points for Cereal on the Actual vs. Predicted plot are more scattered than those for Foodgrains. This suggests that the SHAP plot for Cereal would show more vertical scatter within each feature band. This increased scatter implies that the effect of a specific feature value is less consistent  compared to Foodgrain instances, making the Cereal model less reliable.</a:t>
            </a:r>
            <a:endParaRPr lang="en-US" sz="2000" dirty="0">
              <a:ea typeface="Calibri"/>
              <a:cs typeface="Calibri"/>
            </a:endParaRPr>
          </a:p>
          <a:p>
            <a:endParaRPr lang="en-US" sz="2000" dirty="0">
              <a:ea typeface="Calibri"/>
              <a:cs typeface="Calibri"/>
            </a:endParaRPr>
          </a:p>
        </p:txBody>
      </p:sp>
      <p:sp>
        <p:nvSpPr>
          <p:cNvPr id="48" name="Rectangle 47">
            <a:extLst>
              <a:ext uri="{FF2B5EF4-FFF2-40B4-BE49-F238E27FC236}">
                <a16:creationId xmlns:a16="http://schemas.microsoft.com/office/drawing/2014/main" id="{A882F8A8-8E45-6616-9190-C18A5A9F2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850E51D-6295-A95A-2628-D510CF1C2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24B30398-B6CE-227E-D593-804B3CA38236}"/>
              </a:ext>
            </a:extLst>
          </p:cNvPr>
          <p:cNvPicPr>
            <a:picLocks noGrp="1" noChangeAspect="1"/>
          </p:cNvPicPr>
          <p:nvPr>
            <p:ph sz="half" idx="1"/>
          </p:nvPr>
        </p:nvPicPr>
        <p:blipFill>
          <a:blip r:embed="rId2"/>
          <a:stretch>
            <a:fillRect/>
          </a:stretch>
        </p:blipFill>
        <p:spPr>
          <a:xfrm>
            <a:off x="6098931" y="1146192"/>
            <a:ext cx="5181600" cy="4363975"/>
          </a:xfrm>
          <a:prstGeom prst="rect">
            <a:avLst/>
          </a:prstGeom>
        </p:spPr>
      </p:pic>
    </p:spTree>
    <p:extLst>
      <p:ext uri="{BB962C8B-B14F-4D97-AF65-F5344CB8AC3E}">
        <p14:creationId xmlns:p14="http://schemas.microsoft.com/office/powerpoint/2010/main" val="1642317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D7EC03-8B4C-7EB8-FD52-05A726E956E3}"/>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C2C926F3-1FC3-E5AE-7BB0-CF4542966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5CDCBF-89D5-76F5-F9B0-751AAFEC5B29}"/>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dirty="0"/>
              <a:t>Feature Importance for Oilseed</a:t>
            </a:r>
            <a:endParaRPr lang="en-US" sz="3700" dirty="0">
              <a:ea typeface="Calibri Light"/>
              <a:cs typeface="Calibri Light"/>
            </a:endParaRPr>
          </a:p>
        </p:txBody>
      </p:sp>
      <p:sp>
        <p:nvSpPr>
          <p:cNvPr id="46" name="Rectangle 45">
            <a:extLst>
              <a:ext uri="{FF2B5EF4-FFF2-40B4-BE49-F238E27FC236}">
                <a16:creationId xmlns:a16="http://schemas.microsoft.com/office/drawing/2014/main" id="{776F2EC0-8C12-CFEA-154D-2E262B76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F149B2B2-ABBD-8369-F593-795D93AD35F0}"/>
              </a:ext>
            </a:extLst>
          </p:cNvPr>
          <p:cNvSpPr>
            <a:spLocks noGrp="1"/>
          </p:cNvSpPr>
          <p:nvPr>
            <p:ph sz="half" idx="2"/>
          </p:nvPr>
        </p:nvSpPr>
        <p:spPr>
          <a:xfrm>
            <a:off x="590719" y="2330505"/>
            <a:ext cx="4559425" cy="3979585"/>
          </a:xfrm>
        </p:spPr>
        <p:txBody>
          <a:bodyPr vert="horz" lIns="91440" tIns="45720" rIns="91440" bIns="45720" rtlCol="0" anchor="ctr">
            <a:normAutofit lnSpcReduction="10000"/>
          </a:bodyPr>
          <a:lstStyle/>
          <a:p>
            <a:r>
              <a:rPr lang="en-US" sz="2000" dirty="0">
                <a:ea typeface="+mn-lt"/>
                <a:cs typeface="+mn-lt"/>
              </a:rPr>
              <a:t>Properties of the topsoil layer are the primary factors for yield. High Soil pH and high </a:t>
            </a:r>
            <a:r>
              <a:rPr lang="en-US" sz="2000" dirty="0" err="1">
                <a:ea typeface="+mn-lt"/>
                <a:cs typeface="+mn-lt"/>
              </a:rPr>
              <a:t>ocd</a:t>
            </a:r>
            <a:r>
              <a:rPr lang="en-US" sz="2000" dirty="0">
                <a:ea typeface="+mn-lt"/>
                <a:cs typeface="+mn-lt"/>
              </a:rPr>
              <a:t> positively impact predicted oilseed yield.</a:t>
            </a:r>
          </a:p>
          <a:p>
            <a:r>
              <a:rPr lang="en-US" sz="2000" dirty="0">
                <a:ea typeface="+mn-lt"/>
                <a:cs typeface="+mn-lt"/>
              </a:rPr>
              <a:t>The top features have a much weaker predictive influence on Oilseed yield compared to Foodgrains.</a:t>
            </a:r>
          </a:p>
          <a:p>
            <a:r>
              <a:rPr lang="en-US" sz="2000" dirty="0">
                <a:ea typeface="+mn-lt"/>
                <a:cs typeface="+mn-lt"/>
              </a:rPr>
              <a:t>The lower R2 for Oilseed is primarily because its yield is less responsive to the available features and the relationship is less consistent (higher scatter). The drivers are similar to Foodgrains, but the features explain less of the outcome.</a:t>
            </a:r>
          </a:p>
        </p:txBody>
      </p:sp>
      <p:sp>
        <p:nvSpPr>
          <p:cNvPr id="48" name="Rectangle 47">
            <a:extLst>
              <a:ext uri="{FF2B5EF4-FFF2-40B4-BE49-F238E27FC236}">
                <a16:creationId xmlns:a16="http://schemas.microsoft.com/office/drawing/2014/main" id="{37541DEA-59D8-BC03-DDB4-CF827CBD1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4A49D83-9CEB-F203-ECC7-5AC445754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4E76801D-6A0D-253D-8A36-E8E0A99A9D6B}"/>
              </a:ext>
            </a:extLst>
          </p:cNvPr>
          <p:cNvPicPr>
            <a:picLocks noGrp="1" noChangeAspect="1"/>
          </p:cNvPicPr>
          <p:nvPr>
            <p:ph sz="half" idx="1"/>
          </p:nvPr>
        </p:nvPicPr>
        <p:blipFill>
          <a:blip r:embed="rId2"/>
          <a:stretch>
            <a:fillRect/>
          </a:stretch>
        </p:blipFill>
        <p:spPr>
          <a:xfrm>
            <a:off x="6098931" y="1312966"/>
            <a:ext cx="5181600" cy="4495204"/>
          </a:xfrm>
          <a:prstGeom prst="rect">
            <a:avLst/>
          </a:prstGeom>
        </p:spPr>
      </p:pic>
    </p:spTree>
    <p:extLst>
      <p:ext uri="{BB962C8B-B14F-4D97-AF65-F5344CB8AC3E}">
        <p14:creationId xmlns:p14="http://schemas.microsoft.com/office/powerpoint/2010/main" val="604313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BB79-613C-AD6D-22D9-DBA01F08D753}"/>
              </a:ext>
            </a:extLst>
          </p:cNvPr>
          <p:cNvSpPr>
            <a:spLocks noGrp="1"/>
          </p:cNvSpPr>
          <p:nvPr>
            <p:ph type="title"/>
          </p:nvPr>
        </p:nvSpPr>
        <p:spPr/>
        <p:txBody>
          <a:bodyPr/>
          <a:lstStyle/>
          <a:p>
            <a:r>
              <a:rPr lang="en-GB" dirty="0">
                <a:ea typeface="Calibri Light"/>
                <a:cs typeface="Calibri Light"/>
              </a:rPr>
              <a:t>Conclusion</a:t>
            </a:r>
            <a:endParaRPr lang="en-GB" dirty="0"/>
          </a:p>
        </p:txBody>
      </p:sp>
      <p:sp>
        <p:nvSpPr>
          <p:cNvPr id="3" name="Content Placeholder 2">
            <a:extLst>
              <a:ext uri="{FF2B5EF4-FFF2-40B4-BE49-F238E27FC236}">
                <a16:creationId xmlns:a16="http://schemas.microsoft.com/office/drawing/2014/main" id="{C6501965-4FFB-F273-6D33-28055F05E778}"/>
              </a:ext>
            </a:extLst>
          </p:cNvPr>
          <p:cNvSpPr>
            <a:spLocks noGrp="1"/>
          </p:cNvSpPr>
          <p:nvPr>
            <p:ph idx="1"/>
          </p:nvPr>
        </p:nvSpPr>
        <p:spPr/>
        <p:txBody>
          <a:bodyPr vert="horz" lIns="91440" tIns="45720" rIns="91440" bIns="45720" rtlCol="0" anchor="t">
            <a:normAutofit/>
          </a:bodyPr>
          <a:lstStyle/>
          <a:p>
            <a:r>
              <a:rPr lang="en-GB" dirty="0"/>
              <a:t>Dominance of Soil Properties over Climatic Factors</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Soil is the Primary Driver: Across all crop categories </a:t>
            </a:r>
            <a:r>
              <a:rPr lang="en-GB" err="1">
                <a:ea typeface="+mn-lt"/>
                <a:cs typeface="+mn-lt"/>
              </a:rPr>
              <a:t>analyzed</a:t>
            </a:r>
            <a:r>
              <a:rPr lang="en-GB" dirty="0">
                <a:ea typeface="+mn-lt"/>
                <a:cs typeface="+mn-lt"/>
              </a:rPr>
              <a:t> (Foodgrains, Cereal, and Oilseed), soil properties are the most dominant and consistent factors for predicting yield.</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SHAP Analysis Confirms: Features related to the topsoil layer (0-5cm), specifically Soil pH (phh2o), </a:t>
            </a:r>
            <a:r>
              <a:rPr lang="en-GB" err="1">
                <a:ea typeface="+mn-lt"/>
                <a:cs typeface="+mn-lt"/>
              </a:rPr>
              <a:t>Start_Year</a:t>
            </a:r>
            <a:r>
              <a:rPr lang="en-GB" dirty="0">
                <a:ea typeface="+mn-lt"/>
                <a:cs typeface="+mn-lt"/>
              </a:rPr>
              <a:t> (as a proxy for long-term changes), and Soil Clay content, consistently rank highest in importance.</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Climatic Factors: Climatic features (average temperature, humidity, windspeed) generally rank lower in the SHAP analysis, suggesting that the macro-level weather data available is less predictive of yield variability than the static and chemical properties of the soil.</a:t>
            </a:r>
            <a:endParaRPr lang="en-GB">
              <a:ea typeface="Calibri"/>
              <a:cs typeface="Calibri"/>
            </a:endParaRPr>
          </a:p>
          <a:p>
            <a:endParaRPr lang="en-GB" dirty="0">
              <a:ea typeface="Calibri"/>
              <a:cs typeface="Calibri"/>
            </a:endParaRPr>
          </a:p>
        </p:txBody>
      </p:sp>
    </p:spTree>
    <p:extLst>
      <p:ext uri="{BB962C8B-B14F-4D97-AF65-F5344CB8AC3E}">
        <p14:creationId xmlns:p14="http://schemas.microsoft.com/office/powerpoint/2010/main" val="1207746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63FB3-DFE0-BD2D-DDC2-C85310BCF2D0}"/>
              </a:ext>
            </a:extLst>
          </p:cNvPr>
          <p:cNvSpPr>
            <a:spLocks noGrp="1"/>
          </p:cNvSpPr>
          <p:nvPr>
            <p:ph type="title"/>
          </p:nvPr>
        </p:nvSpPr>
        <p:spPr/>
        <p:txBody>
          <a:bodyPr/>
          <a:lstStyle/>
          <a:p>
            <a:r>
              <a:rPr lang="en-GB" dirty="0">
                <a:ea typeface="Calibri Light"/>
                <a:cs typeface="Calibri Light"/>
              </a:rPr>
              <a:t>Conclusion contd.</a:t>
            </a:r>
            <a:endParaRPr lang="en-US" dirty="0"/>
          </a:p>
        </p:txBody>
      </p:sp>
      <p:sp>
        <p:nvSpPr>
          <p:cNvPr id="3" name="Content Placeholder 2">
            <a:extLst>
              <a:ext uri="{FF2B5EF4-FFF2-40B4-BE49-F238E27FC236}">
                <a16:creationId xmlns:a16="http://schemas.microsoft.com/office/drawing/2014/main" id="{70CF40A4-5848-152B-23A3-C09F9731C472}"/>
              </a:ext>
            </a:extLst>
          </p:cNvPr>
          <p:cNvSpPr>
            <a:spLocks noGrp="1"/>
          </p:cNvSpPr>
          <p:nvPr>
            <p:ph idx="1"/>
          </p:nvPr>
        </p:nvSpPr>
        <p:spPr/>
        <p:txBody>
          <a:bodyPr vert="horz" lIns="91440" tIns="45720" rIns="91440" bIns="45720" rtlCol="0" anchor="t">
            <a:normAutofit/>
          </a:bodyPr>
          <a:lstStyle/>
          <a:p>
            <a:r>
              <a:rPr lang="en-GB" dirty="0"/>
              <a:t>Directional Impacts of Key Soil Health Indicators</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The models reveal clear directional relationships crucial for land management:</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Soil pH (phh2o): Higher values of Soil pH (red dots) have a strong, positive impact on predicted yield. Conversely, low pH (blue dots) significantly pushes the yield prediction lower.</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Soil Organic Carbon (</a:t>
            </a:r>
            <a:r>
              <a:rPr lang="en-GB" err="1">
                <a:ea typeface="+mn-lt"/>
                <a:cs typeface="+mn-lt"/>
              </a:rPr>
              <a:t>ocd</a:t>
            </a:r>
            <a:r>
              <a:rPr lang="en-GB" dirty="0">
                <a:ea typeface="+mn-lt"/>
                <a:cs typeface="+mn-lt"/>
              </a:rPr>
              <a:t>): High Organic Carbon Density (red dots) consistently shows a positive impact on yield, highlighting its importance for overall soil health and fertility.</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Soil Clay and Bulk Density: Low Clay Content (blue dots) has a strong negative impact, while high Bulk Density (</a:t>
            </a:r>
            <a:r>
              <a:rPr lang="en-GB" dirty="0" err="1">
                <a:ea typeface="+mn-lt"/>
                <a:cs typeface="+mn-lt"/>
              </a:rPr>
              <a:t>bdod</a:t>
            </a:r>
            <a:r>
              <a:rPr lang="en-GB" dirty="0">
                <a:ea typeface="+mn-lt"/>
                <a:cs typeface="+mn-lt"/>
              </a:rPr>
              <a:t>) (red dots) also pushes yield predictions lower.</a:t>
            </a:r>
            <a:endParaRPr lang="en-GB" dirty="0">
              <a:ea typeface="Calibri"/>
              <a:cs typeface="Calibri"/>
            </a:endParaRPr>
          </a:p>
          <a:p>
            <a:endParaRPr lang="en-GB" dirty="0">
              <a:ea typeface="Calibri"/>
              <a:cs typeface="Calibri"/>
            </a:endParaRPr>
          </a:p>
        </p:txBody>
      </p:sp>
    </p:spTree>
    <p:extLst>
      <p:ext uri="{BB962C8B-B14F-4D97-AF65-F5344CB8AC3E}">
        <p14:creationId xmlns:p14="http://schemas.microsoft.com/office/powerpoint/2010/main" val="871872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C6374-E9E0-958A-A3E1-A0CC5C232CA1}"/>
              </a:ext>
            </a:extLst>
          </p:cNvPr>
          <p:cNvSpPr>
            <a:spLocks noGrp="1"/>
          </p:cNvSpPr>
          <p:nvPr>
            <p:ph type="title"/>
          </p:nvPr>
        </p:nvSpPr>
        <p:spPr/>
        <p:txBody>
          <a:bodyPr/>
          <a:lstStyle/>
          <a:p>
            <a:r>
              <a:rPr lang="en-GB" dirty="0">
                <a:ea typeface="Calibri Light"/>
                <a:cs typeface="Calibri Light"/>
              </a:rPr>
              <a:t>Conclusion contd.</a:t>
            </a:r>
            <a:endParaRPr lang="en-GB" dirty="0"/>
          </a:p>
        </p:txBody>
      </p:sp>
      <p:sp>
        <p:nvSpPr>
          <p:cNvPr id="3" name="Content Placeholder 2">
            <a:extLst>
              <a:ext uri="{FF2B5EF4-FFF2-40B4-BE49-F238E27FC236}">
                <a16:creationId xmlns:a16="http://schemas.microsoft.com/office/drawing/2014/main" id="{EB415E25-BFF7-5704-8515-4AC6B93972B4}"/>
              </a:ext>
            </a:extLst>
          </p:cNvPr>
          <p:cNvSpPr>
            <a:spLocks noGrp="1"/>
          </p:cNvSpPr>
          <p:nvPr>
            <p:ph idx="1"/>
          </p:nvPr>
        </p:nvSpPr>
        <p:spPr/>
        <p:txBody>
          <a:bodyPr vert="horz" lIns="91440" tIns="45720" rIns="91440" bIns="45720" rtlCol="0" anchor="t">
            <a:normAutofit/>
          </a:bodyPr>
          <a:lstStyle/>
          <a:p>
            <a:r>
              <a:rPr lang="en-GB" dirty="0"/>
              <a:t>Differences in Predictability (High vs. Low Accuracy Crops)</a:t>
            </a:r>
            <a:endParaRPr lang="en-GB" dirty="0">
              <a:ea typeface="Calibri" panose="020F0502020204030204"/>
              <a:cs typeface="Calibri" panose="020F0502020204030204"/>
            </a:endParaRPr>
          </a:p>
          <a:p>
            <a:pPr lvl="1">
              <a:buFont typeface="Courier New" panose="020B0604020202020204" pitchFamily="34" charset="0"/>
              <a:buChar char="o"/>
            </a:pPr>
            <a:r>
              <a:rPr lang="en-GB" dirty="0">
                <a:ea typeface="+mn-lt"/>
                <a:cs typeface="+mn-lt"/>
              </a:rPr>
              <a:t>The predictive power of all features is highly crop-dependent:</a:t>
            </a:r>
            <a:endParaRPr lang="en-GB">
              <a:ea typeface="Calibri"/>
              <a:cs typeface="Calibri"/>
            </a:endParaRPr>
          </a:p>
          <a:p>
            <a:pPr lvl="1">
              <a:buFont typeface="Courier New" panose="020B0604020202020204" pitchFamily="34" charset="0"/>
              <a:buChar char="o"/>
            </a:pPr>
            <a:r>
              <a:rPr lang="en-GB" dirty="0">
                <a:ea typeface="+mn-lt"/>
                <a:cs typeface="+mn-lt"/>
              </a:rPr>
              <a:t>High-Accuracy Crops (Foodgrains): The model is highly confident (R2=0.84) because the primary drivers (Soil pH, Clay) have a stronger and more consistent impact on Foodgrains yield.</a:t>
            </a:r>
            <a:endParaRPr lang="en-GB">
              <a:ea typeface="Calibri"/>
              <a:cs typeface="Calibri"/>
            </a:endParaRPr>
          </a:p>
          <a:p>
            <a:pPr lvl="1">
              <a:buFont typeface="Courier New" panose="020B0604020202020204" pitchFamily="34" charset="0"/>
              <a:buChar char="o"/>
            </a:pPr>
            <a:r>
              <a:rPr lang="en-GB" dirty="0">
                <a:ea typeface="+mn-lt"/>
                <a:cs typeface="+mn-lt"/>
              </a:rPr>
              <a:t>Lower-Accuracy Crops (Oilseed): The model is less accurate (R2=0.59) because the top features have a weaker overall predictive magnitude and a higher degree of inconsistency (scatter).</a:t>
            </a:r>
            <a:endParaRPr lang="en-GB">
              <a:ea typeface="Calibri"/>
              <a:cs typeface="Calibri"/>
            </a:endParaRPr>
          </a:p>
          <a:p>
            <a:pPr lvl="2">
              <a:buFont typeface="Courier New" panose="020B0604020202020204" pitchFamily="34" charset="0"/>
              <a:buChar char="o"/>
            </a:pPr>
            <a:r>
              <a:rPr lang="en-GB" dirty="0">
                <a:ea typeface="+mn-lt"/>
                <a:cs typeface="+mn-lt"/>
              </a:rPr>
              <a:t>Implication: This suggests that the yield of Oilseed is more sensitive to either unmeasured variables (e.g., pests, micro-climates, specific management actions) or critical extreme weather events that were not captured effectively by the averaged climatic features.</a:t>
            </a:r>
            <a:endParaRPr lang="en-GB">
              <a:ea typeface="Calibri"/>
              <a:cs typeface="Calibri"/>
            </a:endParaRPr>
          </a:p>
          <a:p>
            <a:endParaRPr lang="en-GB" dirty="0">
              <a:ea typeface="Calibri"/>
              <a:cs typeface="Calibri"/>
            </a:endParaRPr>
          </a:p>
        </p:txBody>
      </p:sp>
    </p:spTree>
    <p:extLst>
      <p:ext uri="{BB962C8B-B14F-4D97-AF65-F5344CB8AC3E}">
        <p14:creationId xmlns:p14="http://schemas.microsoft.com/office/powerpoint/2010/main" val="211488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EAF36-4404-4717-A8AF-0BAB868AB6AE}"/>
              </a:ext>
            </a:extLst>
          </p:cNvPr>
          <p:cNvSpPr>
            <a:spLocks noGrp="1"/>
          </p:cNvSpPr>
          <p:nvPr>
            <p:ph type="title"/>
          </p:nvPr>
        </p:nvSpPr>
        <p:spPr/>
        <p:txBody>
          <a:bodyPr/>
          <a:lstStyle/>
          <a:p>
            <a:r>
              <a:rPr lang="en-US" dirty="0"/>
              <a:t>How to improve</a:t>
            </a:r>
          </a:p>
        </p:txBody>
      </p:sp>
      <p:sp>
        <p:nvSpPr>
          <p:cNvPr id="3" name="Content Placeholder 2">
            <a:extLst>
              <a:ext uri="{FF2B5EF4-FFF2-40B4-BE49-F238E27FC236}">
                <a16:creationId xmlns:a16="http://schemas.microsoft.com/office/drawing/2014/main" id="{F79A6619-1856-428D-9B83-A89DE512A2A3}"/>
              </a:ext>
            </a:extLst>
          </p:cNvPr>
          <p:cNvSpPr>
            <a:spLocks noGrp="1"/>
          </p:cNvSpPr>
          <p:nvPr>
            <p:ph idx="1"/>
          </p:nvPr>
        </p:nvSpPr>
        <p:spPr/>
        <p:txBody>
          <a:bodyPr vert="horz" lIns="91440" tIns="45720" rIns="91440" bIns="45720" rtlCol="0" anchor="t">
            <a:normAutofit/>
          </a:bodyPr>
          <a:lstStyle/>
          <a:p>
            <a:r>
              <a:rPr lang="en-US" dirty="0"/>
              <a:t>Capturing the data more granularly like mentioning the specific food grain or cereal to know the specific growing season and considering the average weather for that season.</a:t>
            </a:r>
            <a:endParaRPr lang="en-US" dirty="0">
              <a:ea typeface="Calibri"/>
              <a:cs typeface="Calibri"/>
            </a:endParaRPr>
          </a:p>
          <a:p>
            <a:r>
              <a:rPr lang="en-US" dirty="0"/>
              <a:t>Soil and weather are considered for the specific location rather than the district.</a:t>
            </a:r>
          </a:p>
          <a:p>
            <a:r>
              <a:rPr lang="en-US" dirty="0"/>
              <a:t>Considering the factors like use of fertilizers, hybrid seeds, micronutrient.</a:t>
            </a:r>
            <a:endParaRPr lang="en-US" dirty="0">
              <a:ea typeface="Calibri"/>
              <a:cs typeface="Calibri"/>
            </a:endParaRPr>
          </a:p>
        </p:txBody>
      </p:sp>
    </p:spTree>
    <p:extLst>
      <p:ext uri="{BB962C8B-B14F-4D97-AF65-F5344CB8AC3E}">
        <p14:creationId xmlns:p14="http://schemas.microsoft.com/office/powerpoint/2010/main" val="4118999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D1837-5136-46A4-9D97-3506E2FA88CE}"/>
              </a:ext>
            </a:extLst>
          </p:cNvPr>
          <p:cNvSpPr>
            <a:spLocks noGrp="1"/>
          </p:cNvSpPr>
          <p:nvPr>
            <p:ph type="title"/>
          </p:nvPr>
        </p:nvSpPr>
        <p:spPr>
          <a:xfrm>
            <a:off x="838200" y="365126"/>
            <a:ext cx="10515600" cy="5321300"/>
          </a:xfrm>
        </p:spPr>
        <p:txBody>
          <a:bodyPr/>
          <a:lstStyle/>
          <a:p>
            <a:pPr algn="ctr"/>
            <a:r>
              <a:rPr lang="en-US" dirty="0"/>
              <a:t>Thank You</a:t>
            </a:r>
          </a:p>
        </p:txBody>
      </p:sp>
    </p:spTree>
    <p:extLst>
      <p:ext uri="{BB962C8B-B14F-4D97-AF65-F5344CB8AC3E}">
        <p14:creationId xmlns:p14="http://schemas.microsoft.com/office/powerpoint/2010/main" val="772476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203</Words>
  <Application>Microsoft Office PowerPoint</Application>
  <PresentationFormat>Widescreen</PresentationFormat>
  <Paragraphs>38</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Predicting Crop Yield using Soil and Climate</vt:lpstr>
      <vt:lpstr>Project Objective</vt:lpstr>
      <vt:lpstr>Data Sources</vt:lpstr>
      <vt:lpstr>Variation in Soil Properties</vt:lpstr>
      <vt:lpstr>Variation in Weather</vt:lpstr>
      <vt:lpstr>Model Comparison</vt:lpstr>
      <vt:lpstr>Why Random Forest performed better</vt:lpstr>
      <vt:lpstr>Performance for Food Grains</vt:lpstr>
      <vt:lpstr>Performance for Cereals</vt:lpstr>
      <vt:lpstr>Performance for Oilseed</vt:lpstr>
      <vt:lpstr>SHAP summary plot</vt:lpstr>
      <vt:lpstr>Feature Importance for Food grains </vt:lpstr>
      <vt:lpstr>Feature Importance for Cereals</vt:lpstr>
      <vt:lpstr>Feature Importance for Oilseed</vt:lpstr>
      <vt:lpstr>Conclusion</vt:lpstr>
      <vt:lpstr>Conclusion contd.</vt:lpstr>
      <vt:lpstr>Conclusion contd.</vt:lpstr>
      <vt:lpstr>How to improve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Crop Yield using Soil and Climate</dc:title>
  <dc:creator>Gaurav Tiwari</dc:creator>
  <cp:lastModifiedBy>Gaurav Tiwari</cp:lastModifiedBy>
  <cp:revision>347</cp:revision>
  <dcterms:created xsi:type="dcterms:W3CDTF">2025-12-09T09:42:59Z</dcterms:created>
  <dcterms:modified xsi:type="dcterms:W3CDTF">2025-12-12T18:45:05Z</dcterms:modified>
</cp:coreProperties>
</file>